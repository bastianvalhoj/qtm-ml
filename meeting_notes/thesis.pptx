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40"/>
  </p:notesMasterIdLst>
  <p:handoutMasterIdLst>
    <p:handoutMasterId r:id="rId41"/>
  </p:handoutMasterIdLst>
  <p:sldIdLst>
    <p:sldId id="256" r:id="rId13"/>
    <p:sldId id="260" r:id="rId14"/>
    <p:sldId id="257" r:id="rId15"/>
    <p:sldId id="280" r:id="rId16"/>
    <p:sldId id="283" r:id="rId17"/>
    <p:sldId id="281" r:id="rId18"/>
    <p:sldId id="282" r:id="rId19"/>
    <p:sldId id="284" r:id="rId20"/>
    <p:sldId id="286" r:id="rId21"/>
    <p:sldId id="287" r:id="rId22"/>
    <p:sldId id="261" r:id="rId23"/>
    <p:sldId id="262" r:id="rId24"/>
    <p:sldId id="263" r:id="rId25"/>
    <p:sldId id="267" r:id="rId26"/>
    <p:sldId id="266" r:id="rId27"/>
    <p:sldId id="268" r:id="rId28"/>
    <p:sldId id="270" r:id="rId29"/>
    <p:sldId id="271" r:id="rId30"/>
    <p:sldId id="269" r:id="rId31"/>
    <p:sldId id="272" r:id="rId32"/>
    <p:sldId id="273" r:id="rId33"/>
    <p:sldId id="274" r:id="rId34"/>
    <p:sldId id="275" r:id="rId35"/>
    <p:sldId id="279" r:id="rId36"/>
    <p:sldId id="276" r:id="rId37"/>
    <p:sldId id="277" r:id="rId38"/>
    <p:sldId id="278" r:id="rId39"/>
  </p:sldIdLst>
  <p:sldSz cx="12190413" cy="6858000"/>
  <p:notesSz cx="6858000" cy="9144000"/>
  <p:custDataLst>
    <p:tags r:id="rId42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7BCE9E6B-F3C6-42B2-BCF2-26CC7B6F0665}">
          <p14:sldIdLst>
            <p14:sldId id="256"/>
            <p14:sldId id="260"/>
            <p14:sldId id="257"/>
          </p14:sldIdLst>
        </p14:section>
        <p14:section name="About QTM" id="{E400A3D1-4038-4DEC-8791-962ABA06C5A9}">
          <p14:sldIdLst>
            <p14:sldId id="280"/>
            <p14:sldId id="283"/>
            <p14:sldId id="281"/>
            <p14:sldId id="282"/>
          </p14:sldIdLst>
        </p14:section>
        <p14:section name="The motivation" id="{035CB87A-A545-4BD8-818E-D87A2E4E749A}">
          <p14:sldIdLst>
            <p14:sldId id="284"/>
            <p14:sldId id="286"/>
            <p14:sldId id="287"/>
            <p14:sldId id="261"/>
            <p14:sldId id="262"/>
            <p14:sldId id="263"/>
            <p14:sldId id="267"/>
            <p14:sldId id="266"/>
            <p14:sldId id="268"/>
            <p14:sldId id="270"/>
            <p14:sldId id="271"/>
            <p14:sldId id="269"/>
            <p14:sldId id="272"/>
            <p14:sldId id="273"/>
            <p14:sldId id="274"/>
            <p14:sldId id="275"/>
            <p14:sldId id="279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76" autoAdjust="0"/>
  </p:normalViewPr>
  <p:slideViewPr>
    <p:cSldViewPr showGuides="1">
      <p:cViewPr varScale="1">
        <p:scale>
          <a:sx n="147" d="100"/>
          <a:sy n="147" d="100"/>
        </p:scale>
        <p:origin x="822" y="12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9" Type="http://schemas.openxmlformats.org/officeDocument/2006/relationships/slide" Target="slides/slide27.xml"/><Relationship Id="rId21" Type="http://schemas.openxmlformats.org/officeDocument/2006/relationships/slide" Target="slides/slide9.xml"/><Relationship Id="rId34" Type="http://schemas.openxmlformats.org/officeDocument/2006/relationships/slide" Target="slides/slide22.xml"/><Relationship Id="rId42" Type="http://schemas.openxmlformats.org/officeDocument/2006/relationships/tags" Target="tags/tag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9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32" Type="http://schemas.openxmlformats.org/officeDocument/2006/relationships/slide" Target="slides/slide20.xml"/><Relationship Id="rId37" Type="http://schemas.openxmlformats.org/officeDocument/2006/relationships/slide" Target="slides/slide25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slide" Target="slides/slide24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4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slide" Target="slides/slide23.xml"/><Relationship Id="rId43" Type="http://schemas.openxmlformats.org/officeDocument/2006/relationships/presProps" Target="pres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slide" Target="slides/slide21.xml"/><Relationship Id="rId38" Type="http://schemas.openxmlformats.org/officeDocument/2006/relationships/slide" Target="slides/slide26.xml"/><Relationship Id="rId46" Type="http://schemas.openxmlformats.org/officeDocument/2006/relationships/tableStyles" Target="tableStyles.xml"/><Relationship Id="rId20" Type="http://schemas.openxmlformats.org/officeDocument/2006/relationships/slide" Target="slides/slide8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1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4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i.org/10.1038/s41586-022-05685-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gif"/><Relationship Id="rId4" Type="http://schemas.openxmlformats.org/officeDocument/2006/relationships/hyperlink" Target="https://doi.org/10.1038/s41586-022-05685-y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hyperlink" Target="https://doi.org/10.1038/s41586-022-05685-y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doi.org/10.1038/s41586-026-10378-x" TargetMode="External"/><Relationship Id="rId7" Type="http://schemas.openxmlformats.org/officeDocument/2006/relationships/image" Target="../media/image11.png"/><Relationship Id="rId12" Type="http://schemas.openxmlformats.org/officeDocument/2006/relationships/image" Target="../media/image14.png"/><Relationship Id="rId2" Type="http://schemas.openxmlformats.org/officeDocument/2006/relationships/hyperlink" Target="https://doi.org/10.1038/s41586-022-05685-y" TargetMode="External"/><Relationship Id="rId1" Type="http://schemas.openxmlformats.org/officeDocument/2006/relationships/slideLayout" Target="../slideLayouts/slideLayout3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gif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 dirty="0"/>
              <a:t>Green’s function method for inter-layer tunneling between two-dimensional materials</a:t>
            </a:r>
            <a:endParaRPr lang="en-GB" sz="44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Bastian Valhøj Kristensen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Green’s function method for inter-layer tunneling between two-dimensional materials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 dirty="0"/>
              <a:t>Date 2026-07-03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3B86D4-9E38-7817-74B8-1E34E39097BF}"/>
              </a:ext>
            </a:extLst>
          </p:cNvPr>
          <p:cNvSpPr txBox="1"/>
          <p:nvPr/>
        </p:nvSpPr>
        <p:spPr>
          <a:xfrm>
            <a:off x="7103318" y="5161275"/>
            <a:ext cx="4968552" cy="9335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spcBef>
                <a:spcPts val="432"/>
              </a:spcBef>
            </a:pPr>
            <a:r>
              <a:rPr lang="da-DK" sz="1800" b="1" dirty="0">
                <a:solidFill>
                  <a:schemeClr val="bg1"/>
                </a:solidFill>
                <a:latin typeface="+mn-lt"/>
                <a:ea typeface="+mn-ea"/>
              </a:rPr>
              <a:t>Supervisor and Co-supervisor</a:t>
            </a:r>
          </a:p>
          <a:p>
            <a:pPr algn="r">
              <a:spcBef>
                <a:spcPts val="432"/>
              </a:spcBef>
            </a:pP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Mads Brandbyge (</a:t>
            </a:r>
            <a:r>
              <a:rPr lang="da-DK" sz="1800" u="sng" dirty="0">
                <a:solidFill>
                  <a:schemeClr val="bg1"/>
                </a:solidFill>
                <a:latin typeface="+mn-lt"/>
                <a:ea typeface="+mn-ea"/>
              </a:rPr>
              <a:t>mabr@dtu.dk</a:t>
            </a: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)</a:t>
            </a:r>
          </a:p>
          <a:p>
            <a:pPr algn="r">
              <a:spcBef>
                <a:spcPts val="432"/>
              </a:spcBef>
            </a:pP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Alan Ernesto Anaya Morales (</a:t>
            </a:r>
            <a:r>
              <a:rPr lang="da-DK" sz="1800" u="sng" dirty="0">
                <a:solidFill>
                  <a:schemeClr val="bg1"/>
                </a:solidFill>
                <a:latin typeface="+mn-lt"/>
                <a:ea typeface="+mn-ea"/>
              </a:rPr>
              <a:t>alemor@dtu.dk</a:t>
            </a:r>
            <a:r>
              <a:rPr lang="da-DK" sz="1800" dirty="0">
                <a:solidFill>
                  <a:schemeClr val="bg1"/>
                </a:solidFill>
                <a:latin typeface="+mn-lt"/>
                <a:ea typeface="+mn-ea"/>
              </a:rPr>
              <a:t>)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Green’s function method for inter-layer tunneling between two-dimensional materials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679382" y="4094270"/>
            <a:ext cx="1728192" cy="486858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D7C9-8797-E67D-D2E1-0ADBDCC36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6CE43D-0B21-E4AB-C2AC-195F95CD795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Green’s function method for inter-layer tunneling between two-dimensional materials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CDB744-4AE1-CD5D-DD98-8E4A5EC8FD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61D13DC-4961-4071-4CED-E03F251CA15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7" name="Content Placeholder 14">
            <a:extLst>
              <a:ext uri="{FF2B5EF4-FFF2-40B4-BE49-F238E27FC236}">
                <a16:creationId xmlns:a16="http://schemas.microsoft.com/office/drawing/2014/main" id="{7C896797-76D7-4901-C2DB-C680DEDFDB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786"/>
          <a:stretch>
            <a:fillRect/>
          </a:stretch>
        </p:blipFill>
        <p:spPr bwMode="auto">
          <a:xfrm>
            <a:off x="910630" y="1628800"/>
            <a:ext cx="3456384" cy="2783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D206E55-B34A-5AF6-0E49-E3D81756C5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13204" y="1645996"/>
            <a:ext cx="4464496" cy="2232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96F0961B-50E6-8986-0EDD-1EDE1B562279}"/>
              </a:ext>
            </a:extLst>
          </p:cNvPr>
          <p:cNvSpPr/>
          <p:nvPr/>
        </p:nvSpPr>
        <p:spPr bwMode="auto">
          <a:xfrm>
            <a:off x="4905092" y="2660524"/>
            <a:ext cx="719730" cy="360040"/>
          </a:xfrm>
          <a:prstGeom prst="rightArrow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04743-6D27-7707-E6A9-EB51E73E2E26}"/>
              </a:ext>
            </a:extLst>
          </p:cNvPr>
          <p:cNvSpPr txBox="1"/>
          <p:nvPr/>
        </p:nvSpPr>
        <p:spPr>
          <a:xfrm>
            <a:off x="1054646" y="4077072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B583F6-95B9-A6B7-C2E6-BA165DAF0CD5}"/>
              </a:ext>
            </a:extLst>
          </p:cNvPr>
          <p:cNvSpPr txBox="1"/>
          <p:nvPr/>
        </p:nvSpPr>
        <p:spPr>
          <a:xfrm flipH="1">
            <a:off x="8183438" y="6262596"/>
            <a:ext cx="400697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4"/>
              </a:rPr>
              <a:t>https://doi.org/10.1038/s41586-022-05685-y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912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48FD0-9E3D-74CE-91DB-B1E935937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910156-41D2-AC4A-8238-11F9971E2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280" y="2145479"/>
            <a:ext cx="4439270" cy="3962953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05483907-E1D8-55D5-0A1B-28BA3F9EE2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30786"/>
          <a:stretch>
            <a:fillRect/>
          </a:stretch>
        </p:blipFill>
        <p:spPr bwMode="auto">
          <a:xfrm>
            <a:off x="8540237" y="116632"/>
            <a:ext cx="3456384" cy="2783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86ECAC-E125-EC8D-7CB9-55040FB3C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QTM?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B06D-C0FC-5F52-5781-BD4C472B91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Green’s function method for inter-layer tunneling between two-dimensional materials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3D621-4AD7-A396-7D79-411D452761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FC0FA5F-381B-DA1D-BBC8-BD11D64F41D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676D4-8CCA-E73E-23D9-93C33E37E40E}"/>
              </a:ext>
            </a:extLst>
          </p:cNvPr>
          <p:cNvSpPr txBox="1"/>
          <p:nvPr/>
        </p:nvSpPr>
        <p:spPr>
          <a:xfrm>
            <a:off x="8551133" y="2723438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D56CEB-E343-274D-459F-70CA05695621}"/>
              </a:ext>
            </a:extLst>
          </p:cNvPr>
          <p:cNvSpPr txBox="1"/>
          <p:nvPr/>
        </p:nvSpPr>
        <p:spPr>
          <a:xfrm flipH="1">
            <a:off x="8255445" y="6347234"/>
            <a:ext cx="3934967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4"/>
              </a:rPr>
              <a:t>https://doi.org/10.1038/s41586-022-05685-y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B22322-0737-F8F9-F169-D3D971C70CFE}"/>
              </a:ext>
            </a:extLst>
          </p:cNvPr>
          <p:cNvSpPr txBox="1"/>
          <p:nvPr/>
        </p:nvSpPr>
        <p:spPr>
          <a:xfrm>
            <a:off x="1619234" y="5661248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8FF7CF3-E9C8-6902-9E15-75EB352E19DF}"/>
              </a:ext>
            </a:extLst>
          </p:cNvPr>
          <p:cNvSpPr/>
          <p:nvPr/>
        </p:nvSpPr>
        <p:spPr bwMode="auto">
          <a:xfrm>
            <a:off x="4078982" y="3573016"/>
            <a:ext cx="72008" cy="74912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25E069-28ED-A5E2-6736-CA0A0BEE7D98}"/>
              </a:ext>
            </a:extLst>
          </p:cNvPr>
          <p:cNvCxnSpPr/>
          <p:nvPr/>
        </p:nvCxnSpPr>
        <p:spPr bwMode="auto">
          <a:xfrm flipH="1">
            <a:off x="4150990" y="2636912"/>
            <a:ext cx="432048" cy="9361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9A43DFB-4341-8DD4-3D60-584E3135E6F7}"/>
              </a:ext>
            </a:extLst>
          </p:cNvPr>
          <p:cNvSpPr txBox="1"/>
          <p:nvPr/>
        </p:nvSpPr>
        <p:spPr>
          <a:xfrm flipH="1">
            <a:off x="4550184" y="1753942"/>
            <a:ext cx="2520565" cy="1138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Conservation: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Energy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strike="sngStrike" dirty="0">
                <a:latin typeface="+mn-lt"/>
              </a:rPr>
              <a:t>Momentum</a:t>
            </a:r>
            <a:r>
              <a:rPr lang="en-US" dirty="0">
                <a:latin typeface="+mn-lt"/>
              </a:rPr>
              <a:t> 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E1F2EC9-EFFE-92BF-D6B0-CF0795D46783}"/>
              </a:ext>
            </a:extLst>
          </p:cNvPr>
          <p:cNvSpPr/>
          <p:nvPr/>
        </p:nvSpPr>
        <p:spPr bwMode="auto">
          <a:xfrm>
            <a:off x="4388822" y="3573016"/>
            <a:ext cx="72008" cy="74912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114B9B-C811-BDF3-0923-C3161C32E54F}"/>
              </a:ext>
            </a:extLst>
          </p:cNvPr>
          <p:cNvCxnSpPr/>
          <p:nvPr/>
        </p:nvCxnSpPr>
        <p:spPr bwMode="auto">
          <a:xfrm flipH="1">
            <a:off x="4478838" y="3610472"/>
            <a:ext cx="145054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5C47960-3702-F5CE-29FA-52317C0B81E6}"/>
              </a:ext>
            </a:extLst>
          </p:cNvPr>
          <p:cNvSpPr txBox="1"/>
          <p:nvPr/>
        </p:nvSpPr>
        <p:spPr>
          <a:xfrm flipH="1">
            <a:off x="6108314" y="3200593"/>
            <a:ext cx="2520565" cy="1138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Conservation: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Energy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Momentum 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</p:txBody>
      </p:sp>
      <p:pic>
        <p:nvPicPr>
          <p:cNvPr id="31" name="Content Placeholder 7">
            <a:extLst>
              <a:ext uri="{FF2B5EF4-FFF2-40B4-BE49-F238E27FC236}">
                <a16:creationId xmlns:a16="http://schemas.microsoft.com/office/drawing/2014/main" id="{F3FF78A9-46BB-AC7A-B2C7-EA121C24E81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5406" y="3397183"/>
            <a:ext cx="4206040" cy="2103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5688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DA96807-A120-FF99-4464-618B6519D3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30786"/>
          <a:stretch>
            <a:fillRect/>
          </a:stretch>
        </p:blipFill>
        <p:spPr bwMode="auto">
          <a:xfrm>
            <a:off x="8540237" y="116632"/>
            <a:ext cx="3456384" cy="2783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87D006-F8F5-7418-40D5-71ACCB97A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QTM?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49D3DD-1B4C-5F3E-994A-E5A2572286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58247-87F7-C686-2A06-2F888C03AE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35D0ADA-662F-29C6-0E9C-87B18B74B2A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30CC5F-DA4A-F4BA-A830-1FBE9F6C025A}"/>
              </a:ext>
            </a:extLst>
          </p:cNvPr>
          <p:cNvSpPr txBox="1"/>
          <p:nvPr/>
        </p:nvSpPr>
        <p:spPr>
          <a:xfrm>
            <a:off x="8551133" y="2723438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E6270-1931-D803-3C30-3D7CCAA3CBFD}"/>
              </a:ext>
            </a:extLst>
          </p:cNvPr>
          <p:cNvSpPr txBox="1"/>
          <p:nvPr/>
        </p:nvSpPr>
        <p:spPr>
          <a:xfrm flipH="1">
            <a:off x="8183438" y="6311219"/>
            <a:ext cx="40069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https://doi.org/10.1038/s41586-022-05685-y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7616B79-481C-FD68-3915-DA94316D1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951" y="1398843"/>
            <a:ext cx="3237119" cy="201706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318FB4-17BD-420D-5D73-9196234BF725}"/>
              </a:ext>
            </a:extLst>
          </p:cNvPr>
          <p:cNvCxnSpPr/>
          <p:nvPr/>
        </p:nvCxnSpPr>
        <p:spPr bwMode="auto">
          <a:xfrm>
            <a:off x="3862958" y="2420888"/>
            <a:ext cx="392386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8CED5D98-3694-B28B-ED2E-BBC0E351C6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79" y="1551676"/>
            <a:ext cx="3679725" cy="157584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EFEA22B-E0B0-8D42-BB51-5123249ECC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964" y="4190384"/>
            <a:ext cx="3186711" cy="157584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9DE04FD-CFA0-DD06-FE1C-20C590DF3B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9102" y="3651554"/>
            <a:ext cx="2016000" cy="2768239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EFB159C-EDC6-3C03-66CF-C4B8342A01A1}"/>
              </a:ext>
            </a:extLst>
          </p:cNvPr>
          <p:cNvCxnSpPr/>
          <p:nvPr/>
        </p:nvCxnSpPr>
        <p:spPr bwMode="auto">
          <a:xfrm>
            <a:off x="3758604" y="5035673"/>
            <a:ext cx="72008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F6172AE-7746-60E5-773D-76A4288A0F8E}"/>
              </a:ext>
            </a:extLst>
          </p:cNvPr>
          <p:cNvSpPr txBox="1"/>
          <p:nvPr/>
        </p:nvSpPr>
        <p:spPr>
          <a:xfrm>
            <a:off x="4697951" y="2968787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6930A-9AE0-BEA7-D537-432A4AF9E4F6}"/>
              </a:ext>
            </a:extLst>
          </p:cNvPr>
          <p:cNvSpPr txBox="1"/>
          <p:nvPr/>
        </p:nvSpPr>
        <p:spPr>
          <a:xfrm>
            <a:off x="5000112" y="6093319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4E2EEB-AEC9-884A-98C6-5204E106BCA7}"/>
              </a:ext>
            </a:extLst>
          </p:cNvPr>
          <p:cNvSpPr txBox="1"/>
          <p:nvPr/>
        </p:nvSpPr>
        <p:spPr>
          <a:xfrm>
            <a:off x="838622" y="5445224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A3C17D-1B49-3290-CB1A-CDDAB30DD61F}"/>
              </a:ext>
            </a:extLst>
          </p:cNvPr>
          <p:cNvSpPr txBox="1"/>
          <p:nvPr/>
        </p:nvSpPr>
        <p:spPr>
          <a:xfrm>
            <a:off x="169218" y="2923403"/>
            <a:ext cx="25487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BE398183-DC84-896D-64EA-A847CA7E3E0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5406" y="3397183"/>
            <a:ext cx="4206040" cy="2103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13579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00064-C3F0-5920-0385-1941D10D2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2BC82-18FD-AEAB-8173-58514A66E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QTM?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C271D-8492-3BFC-3383-6E385D98A4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15611-BFDF-606B-B023-9636493562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0B823BA-463D-7430-F1A3-C019D91AE42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70EF27-E0DC-27DF-D1AD-68DAE161EDEC}"/>
              </a:ext>
            </a:extLst>
          </p:cNvPr>
          <p:cNvSpPr txBox="1"/>
          <p:nvPr/>
        </p:nvSpPr>
        <p:spPr>
          <a:xfrm flipH="1">
            <a:off x="8204500" y="6127648"/>
            <a:ext cx="3985913" cy="3898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[1]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2"/>
              </a:rPr>
              <a:t>https://doi.org/10.1038/s41586-022-05685-y</a:t>
            </a:r>
            <a:endParaRPr lang="da-DK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432"/>
              </a:spcBef>
            </a:pP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[2] 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https://doi.org/10.1038/s41586-026-10378-x</a:t>
            </a:r>
            <a:r>
              <a:rPr lang="da-DK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100" dirty="0" err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84AE721-6E14-E8BC-3097-7A9A307D8AB1}"/>
              </a:ext>
            </a:extLst>
          </p:cNvPr>
          <p:cNvGrpSpPr/>
          <p:nvPr/>
        </p:nvGrpSpPr>
        <p:grpSpPr>
          <a:xfrm>
            <a:off x="5224202" y="401002"/>
            <a:ext cx="2547035" cy="1369834"/>
            <a:chOff x="5231110" y="411756"/>
            <a:chExt cx="2547035" cy="1369834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1D149CC-462F-E705-35BE-18ED0378C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231110" y="411756"/>
              <a:ext cx="2547035" cy="1369834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09B25BB-BA4C-DD91-C987-BF6132D67BC3}"/>
                </a:ext>
              </a:extLst>
            </p:cNvPr>
            <p:cNvSpPr txBox="1"/>
            <p:nvPr/>
          </p:nvSpPr>
          <p:spPr>
            <a:xfrm>
              <a:off x="5599344" y="1582320"/>
              <a:ext cx="254878" cy="1692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>
                <a:spcBef>
                  <a:spcPts val="432"/>
                </a:spcBef>
              </a:pPr>
              <a:r>
                <a:rPr lang="en-US" sz="11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773153B-0A02-0B3A-0940-8DC467CB22C3}"/>
                  </a:ext>
                </a:extLst>
              </p:cNvPr>
              <p:cNvSpPr/>
              <p:nvPr/>
            </p:nvSpPr>
            <p:spPr bwMode="auto">
              <a:xfrm>
                <a:off x="5303118" y="1133485"/>
                <a:ext cx="288032" cy="216024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ts val="432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bPr>
                        <m:e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𝜃</m:t>
                          </m:r>
                        </m:e>
                        <m:sub>
                          <m:r>
                            <a:rPr kumimoji="0" lang="da-DK" sz="9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𝑇𝐵𝐺</m:t>
                          </m:r>
                        </m:sub>
                      </m:sSub>
                    </m:oMath>
                  </m:oMathPara>
                </a14:m>
                <a:endParaRPr kumimoji="0" lang="en-US" sz="9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ＭＳ Ｐゴシック" pitchFamily="-80" charset="-128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773153B-0A02-0B3A-0940-8DC467CB2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03118" y="1133485"/>
                <a:ext cx="288032" cy="216024"/>
              </a:xfrm>
              <a:prstGeom prst="rect">
                <a:avLst/>
              </a:prstGeom>
              <a:blipFill>
                <a:blip r:embed="rId7"/>
                <a:stretch>
                  <a:fillRect l="-8163"/>
                </a:stretch>
              </a:blip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Oval 18">
            <a:extLst>
              <a:ext uri="{FF2B5EF4-FFF2-40B4-BE49-F238E27FC236}">
                <a16:creationId xmlns:a16="http://schemas.microsoft.com/office/drawing/2014/main" id="{93BB2A81-38ED-F22F-B165-667892AB887D}"/>
              </a:ext>
            </a:extLst>
          </p:cNvPr>
          <p:cNvSpPr/>
          <p:nvPr/>
        </p:nvSpPr>
        <p:spPr bwMode="auto">
          <a:xfrm>
            <a:off x="5284231" y="1133485"/>
            <a:ext cx="288032" cy="300258"/>
          </a:xfrm>
          <a:prstGeom prst="ellipse">
            <a:avLst/>
          </a:prstGeom>
          <a:noFill/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D07480B-1EDB-7BE1-FE38-B116EE98077D}"/>
                  </a:ext>
                </a:extLst>
              </p:cNvPr>
              <p:cNvSpPr/>
              <p:nvPr/>
            </p:nvSpPr>
            <p:spPr bwMode="auto">
              <a:xfrm>
                <a:off x="4243038" y="2061593"/>
                <a:ext cx="1060079" cy="216024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ts val="432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bPr>
                        <m:e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𝜃</m:t>
                          </m:r>
                        </m:e>
                        <m:sub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𝑇𝐵𝐺</m:t>
                          </m:r>
                        </m:sub>
                      </m:sSub>
                      <m:r>
                        <a:rPr kumimoji="0" lang="da-DK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ＭＳ Ｐゴシック" pitchFamily="-80" charset="-128"/>
                        </a:rPr>
                        <m:t>=</m:t>
                      </m:r>
                      <m:sSup>
                        <m:sSupPr>
                          <m:ctrlP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pPr>
                        <m:e>
                          <m:r>
                            <a:rPr kumimoji="0" lang="da-DK" sz="12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2.</m:t>
                          </m:r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7</m:t>
                          </m:r>
                        </m:e>
                        <m:sup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kumimoji="0" lang="en-US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ＭＳ Ｐゴシック" pitchFamily="-80" charset="-128"/>
                </a:endParaRPr>
              </a:p>
            </p:txBody>
          </p:sp>
        </mc:Choice>
        <mc:Fallback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D07480B-1EDB-7BE1-FE38-B116EE9807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43038" y="2061593"/>
                <a:ext cx="1060079" cy="216024"/>
              </a:xfrm>
              <a:prstGeom prst="rect">
                <a:avLst/>
              </a:prstGeom>
              <a:blipFill>
                <a:blip r:embed="rId8"/>
                <a:stretch>
                  <a:fillRect b="-5556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8F66E6-E24E-022D-219F-88EC8A4172BD}"/>
              </a:ext>
            </a:extLst>
          </p:cNvPr>
          <p:cNvCxnSpPr/>
          <p:nvPr/>
        </p:nvCxnSpPr>
        <p:spPr bwMode="auto">
          <a:xfrm flipV="1">
            <a:off x="6497720" y="3448530"/>
            <a:ext cx="821622" cy="549104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D21BDB-2410-3D7F-F9BD-2902DB63776B}"/>
              </a:ext>
            </a:extLst>
          </p:cNvPr>
          <p:cNvCxnSpPr/>
          <p:nvPr/>
        </p:nvCxnSpPr>
        <p:spPr bwMode="auto">
          <a:xfrm>
            <a:off x="6497720" y="3988951"/>
            <a:ext cx="821622" cy="52016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38DF2D5-B116-5E73-8E0D-3B1BE47BF1FD}"/>
              </a:ext>
            </a:extLst>
          </p:cNvPr>
          <p:cNvCxnSpPr/>
          <p:nvPr/>
        </p:nvCxnSpPr>
        <p:spPr bwMode="auto">
          <a:xfrm>
            <a:off x="2710830" y="2061593"/>
            <a:ext cx="0" cy="4103711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3A63CE4-5130-FCF2-2603-7F04DD827031}"/>
                  </a:ext>
                </a:extLst>
              </p:cNvPr>
              <p:cNvSpPr/>
              <p:nvPr/>
            </p:nvSpPr>
            <p:spPr bwMode="auto">
              <a:xfrm>
                <a:off x="959319" y="2031120"/>
                <a:ext cx="1031427" cy="216024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ts val="432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bPr>
                        <m:e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𝜃</m:t>
                          </m:r>
                        </m:e>
                        <m:sub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𝑇𝐵𝐺</m:t>
                          </m:r>
                        </m:sub>
                      </m:sSub>
                      <m:r>
                        <a:rPr kumimoji="0" lang="da-DK" sz="1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ＭＳ Ｐゴシック" pitchFamily="-80" charset="-128"/>
                        </a:rPr>
                        <m:t>=</m:t>
                      </m:r>
                      <m:sSup>
                        <m:sSupPr>
                          <m:ctrlP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</m:ctrlPr>
                        </m:sSupPr>
                        <m:e>
                          <m:r>
                            <a:rPr kumimoji="0" lang="da-DK" sz="1200" b="0" i="0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1.</m:t>
                          </m:r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2</m:t>
                          </m:r>
                        </m:e>
                        <m:sup>
                          <m:r>
                            <a:rPr kumimoji="0" lang="da-DK" sz="12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ＭＳ Ｐゴシック" pitchFamily="-80" charset="-128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kumimoji="0" lang="en-US" sz="12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ＭＳ Ｐゴシック" pitchFamily="-80" charset="-128"/>
                </a:endParaRPr>
              </a:p>
            </p:txBody>
          </p:sp>
        </mc:Choice>
        <mc:Fallback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3A63CE4-5130-FCF2-2603-7F04DD8270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9319" y="2031120"/>
                <a:ext cx="1031427" cy="216024"/>
              </a:xfrm>
              <a:prstGeom prst="rect">
                <a:avLst/>
              </a:prstGeom>
              <a:blipFill>
                <a:blip r:embed="rId9"/>
                <a:stretch>
                  <a:fillRect b="-2632"/>
                </a:stretch>
              </a:blipFill>
              <a:ln w="9525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6A8DD158-1DF1-25E0-C556-BE6EC6A81C0F}"/>
              </a:ext>
            </a:extLst>
          </p:cNvPr>
          <p:cNvSpPr/>
          <p:nvPr/>
        </p:nvSpPr>
        <p:spPr bwMode="auto">
          <a:xfrm>
            <a:off x="5087094" y="411756"/>
            <a:ext cx="512250" cy="300258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C47ADF7-00C6-C6FA-E33B-F17D5380EE18}"/>
              </a:ext>
            </a:extLst>
          </p:cNvPr>
          <p:cNvGrpSpPr/>
          <p:nvPr/>
        </p:nvGrpSpPr>
        <p:grpSpPr>
          <a:xfrm>
            <a:off x="3282415" y="2798033"/>
            <a:ext cx="2895710" cy="2528025"/>
            <a:chOff x="3723596" y="2835586"/>
            <a:chExt cx="2895710" cy="252802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8711ACF-42BB-ADA3-8595-16D99A2FDDCF}"/>
                </a:ext>
              </a:extLst>
            </p:cNvPr>
            <p:cNvGrpSpPr/>
            <p:nvPr/>
          </p:nvGrpSpPr>
          <p:grpSpPr>
            <a:xfrm>
              <a:off x="3869907" y="2850777"/>
              <a:ext cx="2749399" cy="2512834"/>
              <a:chOff x="9053561" y="907073"/>
              <a:chExt cx="2749399" cy="2512834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85DA685-475F-BC64-FD50-3A9CE996EB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078709" y="907073"/>
                <a:ext cx="2724251" cy="2512834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CE57CA-6C8D-BC9E-4CD2-2B71089D51E1}"/>
                  </a:ext>
                </a:extLst>
              </p:cNvPr>
              <p:cNvSpPr txBox="1"/>
              <p:nvPr/>
            </p:nvSpPr>
            <p:spPr>
              <a:xfrm>
                <a:off x="9053561" y="3229399"/>
                <a:ext cx="25487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1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[1]</a:t>
                </a: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7927CD2-08AE-ABC0-442C-0851FD1F6314}"/>
                </a:ext>
              </a:extLst>
            </p:cNvPr>
            <p:cNvSpPr/>
            <p:nvPr/>
          </p:nvSpPr>
          <p:spPr bwMode="auto">
            <a:xfrm>
              <a:off x="3723596" y="2835586"/>
              <a:ext cx="512250" cy="30025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6331023-5C6C-2267-BF12-EB074682F68E}"/>
              </a:ext>
            </a:extLst>
          </p:cNvPr>
          <p:cNvGrpSpPr/>
          <p:nvPr/>
        </p:nvGrpSpPr>
        <p:grpSpPr>
          <a:xfrm>
            <a:off x="387881" y="2220665"/>
            <a:ext cx="1759510" cy="3903064"/>
            <a:chOff x="387881" y="2220665"/>
            <a:chExt cx="1759510" cy="390306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C014C82-27F7-5603-3498-2C077D32CA5E}"/>
                </a:ext>
              </a:extLst>
            </p:cNvPr>
            <p:cNvGrpSpPr/>
            <p:nvPr/>
          </p:nvGrpSpPr>
          <p:grpSpPr>
            <a:xfrm>
              <a:off x="491572" y="2320155"/>
              <a:ext cx="1655819" cy="3803574"/>
              <a:chOff x="5636154" y="620689"/>
              <a:chExt cx="1655819" cy="3803574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51A0C61-BA20-9A76-7800-820FBBB11E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763593" y="620689"/>
                <a:ext cx="1528380" cy="3793568"/>
              </a:xfrm>
              <a:prstGeom prst="rect">
                <a:avLst/>
              </a:prstGeom>
            </p:spPr>
          </p:pic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833422B-E64D-022F-7C9A-300097D55E06}"/>
                  </a:ext>
                </a:extLst>
              </p:cNvPr>
              <p:cNvSpPr txBox="1"/>
              <p:nvPr/>
            </p:nvSpPr>
            <p:spPr>
              <a:xfrm>
                <a:off x="5636154" y="4254986"/>
                <a:ext cx="25487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1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[2]</a:t>
                </a:r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4E507E-AD2C-2FE4-D753-F070EE604E0D}"/>
                </a:ext>
              </a:extLst>
            </p:cNvPr>
            <p:cNvSpPr/>
            <p:nvPr/>
          </p:nvSpPr>
          <p:spPr bwMode="auto">
            <a:xfrm>
              <a:off x="387881" y="2220665"/>
              <a:ext cx="512250" cy="30025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FFAAB32-A3D0-3A16-9E40-805063F70EFD}"/>
              </a:ext>
            </a:extLst>
          </p:cNvPr>
          <p:cNvGrpSpPr/>
          <p:nvPr/>
        </p:nvGrpSpPr>
        <p:grpSpPr>
          <a:xfrm>
            <a:off x="7391350" y="2135495"/>
            <a:ext cx="2373023" cy="3736876"/>
            <a:chOff x="7419487" y="2142828"/>
            <a:chExt cx="2373023" cy="373687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4FB81F4-F6EF-8793-3A38-37C3A9211BAD}"/>
                </a:ext>
              </a:extLst>
            </p:cNvPr>
            <p:cNvGrpSpPr/>
            <p:nvPr/>
          </p:nvGrpSpPr>
          <p:grpSpPr>
            <a:xfrm>
              <a:off x="7607374" y="2179070"/>
              <a:ext cx="2185136" cy="3700634"/>
              <a:chOff x="7607374" y="2179070"/>
              <a:chExt cx="2185136" cy="3700634"/>
            </a:xfrm>
          </p:grpSpPr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C4B898F7-444D-2B46-0900-24760C912E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607374" y="2179070"/>
                <a:ext cx="2185136" cy="3700634"/>
              </a:xfrm>
              <a:prstGeom prst="rect">
                <a:avLst/>
              </a:prstGeom>
            </p:spPr>
          </p:pic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7D459E6-372F-F922-EEBE-BE40E0CA8A8C}"/>
                  </a:ext>
                </a:extLst>
              </p:cNvPr>
              <p:cNvSpPr txBox="1"/>
              <p:nvPr/>
            </p:nvSpPr>
            <p:spPr>
              <a:xfrm>
                <a:off x="7650706" y="5656716"/>
                <a:ext cx="25487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1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[1]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6D341CD-976E-0189-2FE3-9A8394EEFA94}"/>
                  </a:ext>
                </a:extLst>
              </p:cNvPr>
              <p:cNvSpPr txBox="1"/>
              <p:nvPr/>
            </p:nvSpPr>
            <p:spPr>
              <a:xfrm>
                <a:off x="7650706" y="3723082"/>
                <a:ext cx="25487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1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[1]</a:t>
                </a:r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9C32B4C-C34C-127F-11E3-0E7F0DA4DE7C}"/>
                </a:ext>
              </a:extLst>
            </p:cNvPr>
            <p:cNvSpPr/>
            <p:nvPr/>
          </p:nvSpPr>
          <p:spPr bwMode="auto">
            <a:xfrm>
              <a:off x="7419487" y="2142828"/>
              <a:ext cx="512250" cy="30025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588790E-8EAB-5E11-9F69-EC052169B255}"/>
                </a:ext>
              </a:extLst>
            </p:cNvPr>
            <p:cNvSpPr/>
            <p:nvPr/>
          </p:nvSpPr>
          <p:spPr bwMode="auto">
            <a:xfrm>
              <a:off x="7440499" y="3957065"/>
              <a:ext cx="512250" cy="30025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040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4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67C88-2F57-F5FE-4736-94CBE5AE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BFA4B9A-4CAC-037C-8B26-49E52D9879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5166" t="4537" r="24650" b="3877"/>
          <a:stretch>
            <a:fillRect/>
          </a:stretch>
        </p:blipFill>
        <p:spPr bwMode="auto">
          <a:xfrm>
            <a:off x="8471470" y="2617308"/>
            <a:ext cx="2232249" cy="2538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E08C06-AA63-F15A-3D44-1C2DB95712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97882-E860-4B27-FE10-AFA5DF85C6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F5D1F88-FFB0-7FFA-DDCC-052F218ACF5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866EF7-4932-1D7B-67E9-5E366EAB7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5" b="385"/>
          <a:stretch/>
        </p:blipFill>
        <p:spPr>
          <a:xfrm>
            <a:off x="5125080" y="2635577"/>
            <a:ext cx="2448272" cy="2520280"/>
          </a:xfrm>
          <a:prstGeom prst="rect">
            <a:avLst/>
          </a:prstGeom>
        </p:spPr>
      </p:pic>
      <p:sp>
        <p:nvSpPr>
          <p:cNvPr id="17" name="Hexagon 16">
            <a:extLst>
              <a:ext uri="{FF2B5EF4-FFF2-40B4-BE49-F238E27FC236}">
                <a16:creationId xmlns:a16="http://schemas.microsoft.com/office/drawing/2014/main" id="{F5027627-A36E-6EB2-954E-4D7AAB8F7B9D}"/>
              </a:ext>
            </a:extLst>
          </p:cNvPr>
          <p:cNvSpPr>
            <a:spLocks noChangeAspect="1"/>
          </p:cNvSpPr>
          <p:nvPr/>
        </p:nvSpPr>
        <p:spPr bwMode="auto">
          <a:xfrm rot="1708479">
            <a:off x="6101868" y="3661363"/>
            <a:ext cx="474366" cy="408936"/>
          </a:xfrm>
          <a:prstGeom prst="hexagon">
            <a:avLst>
              <a:gd name="adj" fmla="val 28243"/>
              <a:gd name="vf" fmla="val 115470"/>
            </a:avLst>
          </a:prstGeom>
          <a:noFill/>
          <a:ln w="3810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5B553F-8C5F-404F-CB77-8564E6307A16}"/>
              </a:ext>
            </a:extLst>
          </p:cNvPr>
          <p:cNvSpPr txBox="1"/>
          <p:nvPr/>
        </p:nvSpPr>
        <p:spPr>
          <a:xfrm flipH="1">
            <a:off x="10499706" y="2533374"/>
            <a:ext cx="864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0A32128-2DDD-9870-F034-80EBBD21769E}"/>
                  </a:ext>
                </a:extLst>
              </p:cNvPr>
              <p:cNvSpPr txBox="1"/>
              <p:nvPr/>
            </p:nvSpPr>
            <p:spPr>
              <a:xfrm flipH="1">
                <a:off x="5989241" y="2224433"/>
                <a:ext cx="1080055" cy="2553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𝑇𝐵𝐺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0A32128-2DDD-9870-F034-80EBBD217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989241" y="2224433"/>
                <a:ext cx="1080055" cy="255326"/>
              </a:xfrm>
              <a:prstGeom prst="rect">
                <a:avLst/>
              </a:prstGeom>
              <a:blipFill>
                <a:blip r:embed="rId4"/>
                <a:stretch>
                  <a:fillRect l="-2247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70F487-5245-282B-7F54-A02B77C93A5E}"/>
                  </a:ext>
                </a:extLst>
              </p:cNvPr>
              <p:cNvSpPr txBox="1"/>
              <p:nvPr/>
            </p:nvSpPr>
            <p:spPr>
              <a:xfrm flipH="1">
                <a:off x="9119543" y="2304787"/>
                <a:ext cx="1080055" cy="2553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𝑇𝐵𝐺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1.1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70F487-5245-282B-7F54-A02B77C93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119543" y="2304787"/>
                <a:ext cx="1080055" cy="255326"/>
              </a:xfrm>
              <a:prstGeom prst="rect">
                <a:avLst/>
              </a:prstGeom>
              <a:blipFill>
                <a:blip r:embed="rId5"/>
                <a:stretch>
                  <a:fillRect l="-3955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C9367B-F5E1-4ED0-8C0F-6A3F3864073D}"/>
              </a:ext>
            </a:extLst>
          </p:cNvPr>
          <p:cNvCxnSpPr/>
          <p:nvPr/>
        </p:nvCxnSpPr>
        <p:spPr bwMode="auto">
          <a:xfrm>
            <a:off x="7895406" y="2149790"/>
            <a:ext cx="0" cy="3528392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6" name="Content Placeholder 7">
            <a:extLst>
              <a:ext uri="{FF2B5EF4-FFF2-40B4-BE49-F238E27FC236}">
                <a16:creationId xmlns:a16="http://schemas.microsoft.com/office/drawing/2014/main" id="{C4340EEE-C715-58C9-AFCA-3EDB194F95A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4" t="11696" r="51620" b="7989"/>
          <a:stretch>
            <a:fillRect/>
          </a:stretch>
        </p:blipFill>
        <p:spPr bwMode="auto">
          <a:xfrm>
            <a:off x="10815554" y="116632"/>
            <a:ext cx="1368088" cy="1395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A0ADEC-A45C-A0A0-A05D-7DCCF93C55EE}"/>
                  </a:ext>
                </a:extLst>
              </p:cNvPr>
              <p:cNvSpPr txBox="1"/>
              <p:nvPr/>
            </p:nvSpPr>
            <p:spPr>
              <a:xfrm flipH="1">
                <a:off x="622598" y="1845617"/>
                <a:ext cx="3096279" cy="19800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Missing periodicity </a:t>
                </a:r>
                <a:r>
                  <a:rPr lang="en-US" dirty="0">
                    <a:latin typeface="+mn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-resolved methods invalid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Local description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Scalable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A0ADEC-A45C-A0A0-A05D-7DCCF93C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22598" y="1845617"/>
                <a:ext cx="3096279" cy="1980029"/>
              </a:xfrm>
              <a:prstGeom prst="rect">
                <a:avLst/>
              </a:prstGeom>
              <a:blipFill>
                <a:blip r:embed="rId7"/>
                <a:stretch>
                  <a:fillRect l="-3740" t="-3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57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A20AD-9109-1E0F-BB06-F52B13EE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02E4C-577B-7687-EDEE-7B24B505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E9182-18C3-16E7-1F4E-55FD67D4A7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77B5D3-F113-5FA4-5077-D782EE1385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25CA8BD-D0C5-48DC-27F0-25E948B33CF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26" name="Content Placeholder 7">
            <a:extLst>
              <a:ext uri="{FF2B5EF4-FFF2-40B4-BE49-F238E27FC236}">
                <a16:creationId xmlns:a16="http://schemas.microsoft.com/office/drawing/2014/main" id="{36206093-4FC5-27AC-B3B9-95B4CE0DCC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4" t="11696" r="51620" b="7989"/>
          <a:stretch>
            <a:fillRect/>
          </a:stretch>
        </p:blipFill>
        <p:spPr bwMode="auto">
          <a:xfrm>
            <a:off x="10815554" y="116632"/>
            <a:ext cx="1368088" cy="1395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1AE977-B320-0ABE-D357-48D487CE8D84}"/>
                  </a:ext>
                </a:extLst>
              </p:cNvPr>
              <p:cNvSpPr txBox="1"/>
              <p:nvPr/>
            </p:nvSpPr>
            <p:spPr>
              <a:xfrm flipH="1">
                <a:off x="622597" y="1845617"/>
                <a:ext cx="3718376" cy="19800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Missing periodicity </a:t>
                </a:r>
                <a:r>
                  <a:rPr lang="en-US" dirty="0">
                    <a:latin typeface="+mn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-resolved methods invalid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Local description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>
                  <a:latin typeface="+mn-lt"/>
                </a:endParaRP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n-lt"/>
                  </a:rPr>
                  <a:t>Scalable</a:t>
                </a:r>
              </a:p>
              <a:p>
                <a:pPr marL="285750" indent="-285750" algn="l">
                  <a:spcBef>
                    <a:spcPts val="432"/>
                  </a:spcBef>
                  <a:buFont typeface="Arial" panose="020B0604020202020204" pitchFamily="34" charset="0"/>
                  <a:buChar char="•"/>
                </a:pPr>
                <a:endParaRPr lang="en-US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1AE977-B320-0ABE-D357-48D487CE8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22597" y="1845617"/>
                <a:ext cx="3718376" cy="1980029"/>
              </a:xfrm>
              <a:prstGeom prst="rect">
                <a:avLst/>
              </a:prstGeom>
              <a:blipFill>
                <a:blip r:embed="rId3"/>
                <a:stretch>
                  <a:fillRect l="-3115" t="-3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" name="Picture 46">
            <a:extLst>
              <a:ext uri="{FF2B5EF4-FFF2-40B4-BE49-F238E27FC236}">
                <a16:creationId xmlns:a16="http://schemas.microsoft.com/office/drawing/2014/main" id="{723DC12F-4009-B572-B88D-944EBE1A8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4846" y="3094484"/>
            <a:ext cx="3718378" cy="2245938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5B3FBC6-D818-4B2D-99B1-6B32FF1D5609}"/>
              </a:ext>
            </a:extLst>
          </p:cNvPr>
          <p:cNvCxnSpPr/>
          <p:nvPr/>
        </p:nvCxnSpPr>
        <p:spPr bwMode="auto">
          <a:xfrm>
            <a:off x="7103318" y="2564904"/>
            <a:ext cx="0" cy="312291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AA15616-BFAF-8497-FFF8-12118B944FEB}"/>
              </a:ext>
            </a:extLst>
          </p:cNvPr>
          <p:cNvGrpSpPr/>
          <p:nvPr/>
        </p:nvGrpSpPr>
        <p:grpSpPr>
          <a:xfrm>
            <a:off x="7639248" y="2708920"/>
            <a:ext cx="2952750" cy="2967602"/>
            <a:chOff x="7639248" y="2708920"/>
            <a:chExt cx="2952750" cy="2967602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D6D8CE3-6C17-731D-D944-377719514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778" t="2777" r="19176" b="2777"/>
            <a:stretch>
              <a:fillRect/>
            </a:stretch>
          </p:blipFill>
          <p:spPr>
            <a:xfrm>
              <a:off x="7679382" y="2708920"/>
              <a:ext cx="2880321" cy="2967602"/>
            </a:xfrm>
            <a:prstGeom prst="rect">
              <a:avLst/>
            </a:prstGeom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D6A0729-C5BE-B2F8-D616-38E27D3805A5}"/>
                </a:ext>
              </a:extLst>
            </p:cNvPr>
            <p:cNvSpPr/>
            <p:nvPr/>
          </p:nvSpPr>
          <p:spPr bwMode="auto">
            <a:xfrm>
              <a:off x="8528992" y="2738884"/>
              <a:ext cx="1181100" cy="711200"/>
            </a:xfrm>
            <a:custGeom>
              <a:avLst/>
              <a:gdLst>
                <a:gd name="csX0" fmla="*/ 0 w 1181100"/>
                <a:gd name="csY0" fmla="*/ 330200 h 711200"/>
                <a:gd name="csX1" fmla="*/ 584200 w 1181100"/>
                <a:gd name="csY1" fmla="*/ 0 h 711200"/>
                <a:gd name="csX2" fmla="*/ 1181100 w 1181100"/>
                <a:gd name="csY2" fmla="*/ 355600 h 711200"/>
                <a:gd name="csX3" fmla="*/ 584200 w 1181100"/>
                <a:gd name="csY3" fmla="*/ 711200 h 711200"/>
                <a:gd name="csX4" fmla="*/ 0 w 1181100"/>
                <a:gd name="csY4" fmla="*/ 330200 h 71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81100" h="711200">
                  <a:moveTo>
                    <a:pt x="0" y="330200"/>
                  </a:moveTo>
                  <a:lnTo>
                    <a:pt x="584200" y="0"/>
                  </a:lnTo>
                  <a:lnTo>
                    <a:pt x="1181100" y="355600"/>
                  </a:lnTo>
                  <a:lnTo>
                    <a:pt x="584200" y="711200"/>
                  </a:lnTo>
                  <a:lnTo>
                    <a:pt x="0" y="330200"/>
                  </a:lnTo>
                  <a:close/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3B498A4-B5E7-A41B-B0E8-A4614FF2DEF2}"/>
                </a:ext>
              </a:extLst>
            </p:cNvPr>
            <p:cNvSpPr/>
            <p:nvPr/>
          </p:nvSpPr>
          <p:spPr bwMode="auto">
            <a:xfrm>
              <a:off x="7639248" y="3937000"/>
              <a:ext cx="2952750" cy="1720850"/>
            </a:xfrm>
            <a:custGeom>
              <a:avLst/>
              <a:gdLst>
                <a:gd name="csX0" fmla="*/ 0 w 2952750"/>
                <a:gd name="csY0" fmla="*/ 857250 h 1720850"/>
                <a:gd name="csX1" fmla="*/ 1466850 w 2952750"/>
                <a:gd name="csY1" fmla="*/ 0 h 1720850"/>
                <a:gd name="csX2" fmla="*/ 2952750 w 2952750"/>
                <a:gd name="csY2" fmla="*/ 863600 h 1720850"/>
                <a:gd name="csX3" fmla="*/ 1466850 w 2952750"/>
                <a:gd name="csY3" fmla="*/ 1720850 h 1720850"/>
                <a:gd name="csX4" fmla="*/ 0 w 2952750"/>
                <a:gd name="csY4" fmla="*/ 857250 h 1720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52750" h="1720850">
                  <a:moveTo>
                    <a:pt x="0" y="857250"/>
                  </a:moveTo>
                  <a:lnTo>
                    <a:pt x="1466850" y="0"/>
                  </a:lnTo>
                  <a:lnTo>
                    <a:pt x="2952750" y="863600"/>
                  </a:lnTo>
                  <a:lnTo>
                    <a:pt x="1466850" y="1720850"/>
                  </a:lnTo>
                  <a:lnTo>
                    <a:pt x="0" y="857250"/>
                  </a:lnTo>
                  <a:close/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  <p:sp>
          <p:nvSpPr>
            <p:cNvPr id="52" name="Arrow: Down 51">
              <a:extLst>
                <a:ext uri="{FF2B5EF4-FFF2-40B4-BE49-F238E27FC236}">
                  <a16:creationId xmlns:a16="http://schemas.microsoft.com/office/drawing/2014/main" id="{EFE13D3D-D6C0-A038-6EA3-DB661E6710CA}"/>
                </a:ext>
              </a:extLst>
            </p:cNvPr>
            <p:cNvSpPr/>
            <p:nvPr/>
          </p:nvSpPr>
          <p:spPr bwMode="auto">
            <a:xfrm>
              <a:off x="9039844" y="3569008"/>
              <a:ext cx="151557" cy="267342"/>
            </a:xfrm>
            <a:prstGeom prst="downArrow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ts val="432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0" i="0" u="none" strike="noStrike" cap="none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891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85281-16F3-39A1-944F-FFDCF7515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Edge Exploration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CAD1828-BACB-DE52-EB4F-C11C6033F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2000" y="1925031"/>
            <a:ext cx="6264696" cy="2142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F6078-440E-0692-E48E-87B08993FD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73CA59-B9EA-3FCB-73A5-586A953445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5D5B03-B69E-0250-49B1-2F2136D40B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63F1C9-3C9A-400E-0F58-B6C3E7D436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17" y="4293096"/>
            <a:ext cx="6264696" cy="20552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065B558-43BC-56F8-DB0D-F1018EF75A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31310" y="1635147"/>
            <a:ext cx="4248471" cy="378200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ADCA34B-81AB-FE9C-3526-5908908D1A44}"/>
              </a:ext>
            </a:extLst>
          </p:cNvPr>
          <p:cNvCxnSpPr/>
          <p:nvPr/>
        </p:nvCxnSpPr>
        <p:spPr bwMode="auto">
          <a:xfrm flipV="1">
            <a:off x="6378319" y="2110958"/>
            <a:ext cx="738774" cy="18062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C41039-63AA-5AC6-4623-70CF0061BE51}"/>
              </a:ext>
            </a:extLst>
          </p:cNvPr>
          <p:cNvCxnSpPr/>
          <p:nvPr/>
        </p:nvCxnSpPr>
        <p:spPr bwMode="auto">
          <a:xfrm flipV="1">
            <a:off x="6471015" y="5417148"/>
            <a:ext cx="3368607" cy="68264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248009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z-GNR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42" y="1340768"/>
            <a:ext cx="3888432" cy="9727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158" y="2175588"/>
            <a:ext cx="5423942" cy="436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8582" y="1972247"/>
            <a:ext cx="5562302" cy="3673574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117049" y="3508935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1267F-7F05-55CD-3973-B6AE9746C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534E6E-7932-25B6-FD58-075CDB88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3BFAA2-51AD-DEC5-4F54-9402419651B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96CC9-F33E-3BE2-E5B7-265D3A5000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A01872-B7B7-912F-5E3E-8816084AD6A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900C229F-6939-622D-FE96-2482D7C0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F6D4079-49C8-F8F3-924A-CD1DBEA66A8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algn="l"/>
            <a:r>
              <a:rPr lang="en-US" dirty="0"/>
              <a:t>Pit-falls:</a:t>
            </a: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Number of equivalent pairs scale (sort of) linearly </a:t>
            </a:r>
            <a:r>
              <a:rPr lang="en-US" dirty="0">
                <a:sym typeface="Wingdings" panose="05000000000000000000" pitchFamily="2" charset="2"/>
              </a:rPr>
              <a:t> overweight of corner-neighboring pairs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4-atom corners occupy more space </a:t>
            </a:r>
            <a:r>
              <a:rPr lang="en-US" dirty="0">
                <a:sym typeface="Wingdings" panose="05000000000000000000" pitchFamily="2" charset="2"/>
              </a:rPr>
              <a:t> more edge pairs for this region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1C88CD-2282-306D-8B1E-9E7A1F0079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D76F0D-37E2-8AF3-6BD7-12F94DFE5C40}"/>
              </a:ext>
            </a:extLst>
          </p:cNvPr>
          <p:cNvCxnSpPr/>
          <p:nvPr/>
        </p:nvCxnSpPr>
        <p:spPr bwMode="auto">
          <a:xfrm>
            <a:off x="1355240" y="4221088"/>
            <a:ext cx="1427598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B7DA9E-4E5E-D8AB-4913-A1C7A8D360D4}"/>
              </a:ext>
            </a:extLst>
          </p:cNvPr>
          <p:cNvCxnSpPr/>
          <p:nvPr/>
        </p:nvCxnSpPr>
        <p:spPr bwMode="auto">
          <a:xfrm>
            <a:off x="2864098" y="4190022"/>
            <a:ext cx="422796" cy="2470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865463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E884-C6AB-30FD-C4BF-4C3DF3C9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0FE57-6131-4F12-203A-F754D9373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824BF3-88B5-757F-B9BB-E6D168CB67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C3A0549-390B-D061-E5CD-47047B35A2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6757-1DA5-437F-6123-0C8A56AE2B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4543C-2894-244F-24C5-AD0C42B611A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0E947D9-B4E6-F3FE-AD9F-8D6BBBA94B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3107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C88-EE43-D40D-CA12-2994A72B8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Extrapolation</a:t>
            </a:r>
            <a:endParaRPr lang="da-DK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94FC054-ACAC-17FF-DB4F-3C7B7CD9989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414686" y="2924944"/>
            <a:ext cx="4410075" cy="311855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B5FB1ED-71BE-6D35-A153-691BC4DAF4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8147738" y="1398843"/>
            <a:ext cx="3575012" cy="4546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6DCEA-BD3A-93D2-8EDD-9850D566A3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BE7F5-F27B-90CC-4C29-A6F9DF538F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344174-83B8-7305-3339-9924124454A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D792E-7D15-BE25-A7DF-66303694477C}"/>
              </a:ext>
            </a:extLst>
          </p:cNvPr>
          <p:cNvSpPr txBox="1"/>
          <p:nvPr/>
        </p:nvSpPr>
        <p:spPr>
          <a:xfrm>
            <a:off x="8971641" y="912485"/>
            <a:ext cx="144022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a-DK" dirty="0">
                <a:latin typeface="+mn-lt"/>
              </a:rPr>
              <a:t>Using NC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8E0A6-E2A0-10CC-0269-13FC6E0A1298}"/>
              </a:ext>
            </a:extLst>
          </p:cNvPr>
          <p:cNvSpPr txBox="1"/>
          <p:nvPr/>
        </p:nvSpPr>
        <p:spPr>
          <a:xfrm>
            <a:off x="1545085" y="1988840"/>
            <a:ext cx="4010014" cy="543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 err="1">
                <a:latin typeface="+mn-lt"/>
              </a:rPr>
              <a:t>kNN</a:t>
            </a:r>
            <a:r>
              <a:rPr lang="da-DK" dirty="0">
                <a:latin typeface="+mn-lt"/>
              </a:rPr>
              <a:t>: </a:t>
            </a:r>
            <a:r>
              <a:rPr lang="da-DK" dirty="0" err="1">
                <a:latin typeface="+mn-lt"/>
              </a:rPr>
              <a:t>Finding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equivalent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centroids</a:t>
            </a:r>
            <a:endParaRPr lang="da-DK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>
                <a:latin typeface="+mn-lt"/>
              </a:rPr>
              <a:t>In practice: </a:t>
            </a:r>
            <a:r>
              <a:rPr lang="da-DK" dirty="0" err="1">
                <a:latin typeface="+mn-lt"/>
              </a:rPr>
              <a:t>only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one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edge</a:t>
            </a:r>
            <a:r>
              <a:rPr lang="da-DK" dirty="0">
                <a:latin typeface="+mn-lt"/>
              </a:rPr>
              <a:t> at a time</a:t>
            </a:r>
          </a:p>
        </p:txBody>
      </p:sp>
    </p:spTree>
    <p:extLst>
      <p:ext uri="{BB962C8B-B14F-4D97-AF65-F5344CB8AC3E}">
        <p14:creationId xmlns:p14="http://schemas.microsoft.com/office/powerpoint/2010/main" val="2420928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BF9C-AF28-35C5-4296-A31EBD8E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</a:t>
            </a:r>
            <a:r>
              <a:rPr lang="en-US" dirty="0" err="1"/>
              <a:t>kNN</a:t>
            </a:r>
            <a:r>
              <a:rPr lang="en-US" dirty="0"/>
              <a:t> for reduced corner-edge pair influence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A5C2A9-BF3C-1249-E1AA-2032E0858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4287" t="13143" r="10711" b="13638"/>
          <a:stretch>
            <a:fillRect/>
          </a:stretch>
        </p:blipFill>
        <p:spPr bwMode="auto">
          <a:xfrm>
            <a:off x="406574" y="1628800"/>
            <a:ext cx="6563224" cy="4271304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ACDD2-10FE-2183-51A8-DB43B1FE003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08970-D1AB-D116-C600-75A4487E7A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A21B963-7E9A-74CB-41AB-D0E4FC6EAFF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1A152C-6A67-1BC4-4194-A0D9880A2F73}"/>
              </a:ext>
            </a:extLst>
          </p:cNvPr>
          <p:cNvSpPr/>
          <p:nvPr/>
        </p:nvSpPr>
        <p:spPr bwMode="auto">
          <a:xfrm rot="18095783">
            <a:off x="2923291" y="4171908"/>
            <a:ext cx="145171" cy="1273239"/>
          </a:xfrm>
          <a:prstGeom prst="rightBrace">
            <a:avLst>
              <a:gd name="adj1" fmla="val 39418"/>
              <a:gd name="adj2" fmla="val 43830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AEC244-BD84-393F-411C-4FADA120F34B}"/>
              </a:ext>
            </a:extLst>
          </p:cNvPr>
          <p:cNvCxnSpPr>
            <a:stCxn id="11" idx="1"/>
          </p:cNvCxnSpPr>
          <p:nvPr/>
        </p:nvCxnSpPr>
        <p:spPr bwMode="auto">
          <a:xfrm flipV="1">
            <a:off x="2966993" y="4437112"/>
            <a:ext cx="175885" cy="26843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BDABC65-B888-136A-6AA9-B52821ED6EEC}"/>
              </a:ext>
            </a:extLst>
          </p:cNvPr>
          <p:cNvSpPr/>
          <p:nvPr/>
        </p:nvSpPr>
        <p:spPr bwMode="auto">
          <a:xfrm rot="18095783">
            <a:off x="1715035" y="3468665"/>
            <a:ext cx="96169" cy="1215465"/>
          </a:xfrm>
          <a:prstGeom prst="rightBrace">
            <a:avLst>
              <a:gd name="adj1" fmla="val 39418"/>
              <a:gd name="adj2" fmla="val 77242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405748-5E43-8948-32D9-5333DBA31ED0}"/>
              </a:ext>
            </a:extLst>
          </p:cNvPr>
          <p:cNvCxnSpPr>
            <a:cxnSpLocks/>
            <a:stCxn id="17" idx="1"/>
          </p:cNvCxnSpPr>
          <p:nvPr/>
        </p:nvCxnSpPr>
        <p:spPr bwMode="auto">
          <a:xfrm flipV="1">
            <a:off x="2070344" y="4040395"/>
            <a:ext cx="712494" cy="16852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Content Placeholder 10">
            <a:extLst>
              <a:ext uri="{FF2B5EF4-FFF2-40B4-BE49-F238E27FC236}">
                <a16:creationId xmlns:a16="http://schemas.microsoft.com/office/drawing/2014/main" id="{49B553EC-1C86-974B-19E9-451C5681B5D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95" b="-2742"/>
          <a:stretch>
            <a:fillRect/>
          </a:stretch>
        </p:blipFill>
        <p:spPr bwMode="auto">
          <a:xfrm>
            <a:off x="7871299" y="2281519"/>
            <a:ext cx="3859213" cy="287102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28787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C4E5CC6-B95F-1F6D-50CA-728F59E6BC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DFT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5C625CD1-CCB0-D4D2-2CB5-EB5E071D7D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DOS +  </a:t>
            </a:r>
            <a:r>
              <a:rPr lang="da-DK" dirty="0" err="1"/>
              <a:t>bandpath</a:t>
            </a:r>
            <a:endParaRPr lang="da-DK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5D971-AB26-9AB7-BE8B-4479EC7E4EF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3D8BC-2FEA-CA85-2F68-2DFBEEEF03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0584D8E-40B1-2040-F1C4-2E97028400C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04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4DEFA-1EF4-4FD5-624D-9EC1A48F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61FB1B1-D895-BB8F-F132-FC41368B7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636B40B-2FF0-11C4-12F1-AA283C91F34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6908" b="6908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311947-120D-7BE9-3A83-22CAE8732B8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2E464-9ECC-AF7A-A417-CD1674BE9CA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4B91-D457-AF80-839F-F822476E4D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245C6C2-1DD8-C6FF-9934-EF24CB29464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998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887500-F9B5-3322-31E2-9446E4213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F3EE-2A84-CCCA-4A86-AB4378CCF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AA8E55B-8945-37A1-38B8-D4A39D935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A0BA03C-61D6-8761-2C98-C2B568AEC7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5" b="667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6B642822-6AC5-858B-4C25-829F75C229B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B2594-1641-D495-62B1-82EF71D2CF4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D5D4E-C311-3241-EC1F-A0499A05A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F7EC0BC-87ED-7F7C-8305-AB1171784A2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0465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84C3C0-9468-BC8E-3CA7-F97A4870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E462-76D5-8D28-2D9C-7650532E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F3CF181-BAA2-D0EE-4B49-4010F0060A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18EDFECA-9361-2ABE-3B95-2DFD0901E0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b="7349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F38681AE-A0B3-1E19-F819-EFAF499711A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3A67F-43F2-CFA4-6F24-D4C725CFBC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91668-B251-4869-16CA-8AB27A36A38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8C18B1D-E132-27B2-BB09-7A18CE12EEC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381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09C534-D1D5-37DE-5A20-ACB6EAD2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612C-29F3-12D5-59A0-0C152E6C0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 Vs. 4 atoms/UC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CC3EF-1F90-0770-435D-1D6E2D5B91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0D42B-7E39-A7EA-7091-72E3D928F7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C1B7A35-FCA3-9D84-C6FC-7380DBC2246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9C76A46-80A9-7359-35E8-1B0907658A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2320402"/>
            <a:ext cx="4410075" cy="3318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5">
            <a:extLst>
              <a:ext uri="{FF2B5EF4-FFF2-40B4-BE49-F238E27FC236}">
                <a16:creationId xmlns:a16="http://schemas.microsoft.com/office/drawing/2014/main" id="{FAB1FFEF-0ECF-E86B-4C71-E65BDE8EA8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6678613" y="2328808"/>
            <a:ext cx="4408487" cy="3302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19485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63EE3F-DF04-5436-1CBE-FDFC6A09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78222-5379-95D2-CDC6-572F0AB31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1E9591-F5C5-D1EC-CC50-74C8F4F5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770C9AC-B959-1A1E-31AF-D93AA733D7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2" b="7842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446119F0-6C11-D107-47DB-F86D799162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9DA01-22A9-8608-D611-67242CC696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14C89B-81C3-0C56-9783-D28F644EDD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6295F5D-2FB8-4CB3-AFFE-2A818DCA0C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9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86CC3E-B06F-4C6C-1B61-5DEFD728B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03C6-F3F5-A34C-528F-288F976F7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5D1E663-B6F9-B40F-67EE-A10BE08BD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FBB60E81-B987-583C-214B-5C72D4AF30A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7" b="781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D315BFC-9665-205A-1E45-6569AA93B01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54577-179F-7757-B352-C26D2D21AD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57A25-4D06-1710-A0A3-ED7E15E4A2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C7A61A1-9AAD-AADF-60C0-2EAF2EA5BDB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144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07D72B-13A8-EC8F-E57E-A8147273E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F63FC-7C93-BF65-3468-10230312C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D4898161-B4F6-CF59-08D9-697CD1AFBD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EC1DB55-6DDE-5BCD-5078-DCF1793E2B2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5" b="790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BB8CDD-D81F-5994-77F8-6CB59ECFC5C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61B59-7DB0-C266-33C2-4EFC516C9A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DAFA0-8A17-5587-BAD7-8023B8FD4C4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29C139E-146A-2D0E-A359-3E856FC7EB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34544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7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8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9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10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618FA3B-8A67-40AE-8AE5-229504AB69D3}">
  <ds:schemaRefs/>
</ds:datastoreItem>
</file>

<file path=customXml/itemProps3.xml><?xml version="1.0" encoding="utf-8"?>
<ds:datastoreItem xmlns:ds="http://schemas.openxmlformats.org/officeDocument/2006/customXml" ds:itemID="{B30A78E7-315B-4170-8116-72928D1FEAD9}">
  <ds:schemaRefs/>
</ds:datastoreItem>
</file>

<file path=customXml/itemProps4.xml><?xml version="1.0" encoding="utf-8"?>
<ds:datastoreItem xmlns:ds="http://schemas.openxmlformats.org/officeDocument/2006/customXml" ds:itemID="{403BE795-51D5-47B5-B747-A10BFE22AFA8}">
  <ds:schemaRefs/>
</ds:datastoreItem>
</file>

<file path=customXml/itemProps5.xml><?xml version="1.0" encoding="utf-8"?>
<ds:datastoreItem xmlns:ds="http://schemas.openxmlformats.org/officeDocument/2006/customXml" ds:itemID="{3DB14396-8B0C-45B4-9B8F-11E9F605DE89}">
  <ds:schemaRefs/>
</ds:datastoreItem>
</file>

<file path=customXml/itemProps6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7.xml><?xml version="1.0" encoding="utf-8"?>
<ds:datastoreItem xmlns:ds="http://schemas.openxmlformats.org/officeDocument/2006/customXml" ds:itemID="{ECA1DA60-FB17-4EB5-97F4-62F99A1A733D}">
  <ds:schemaRefs/>
</ds:datastoreItem>
</file>

<file path=customXml/itemProps8.xml><?xml version="1.0" encoding="utf-8"?>
<ds:datastoreItem xmlns:ds="http://schemas.openxmlformats.org/officeDocument/2006/customXml" ds:itemID="{69ED2CA6-29BB-4407-9012-18ED2ECCD16E}">
  <ds:schemaRefs/>
</ds:datastoreItem>
</file>

<file path=customXml/itemProps9.xml><?xml version="1.0" encoding="utf-8"?>
<ds:datastoreItem xmlns:ds="http://schemas.openxmlformats.org/officeDocument/2006/customXml" ds:itemID="{1334258C-C3E7-4029-A615-C886A240FB15}">
  <ds:schemaRefs/>
</ds:datastoreItem>
</file>

<file path=customXml/itemProps10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1.xml><?xml version="1.0" encoding="utf-8"?>
<ds:datastoreItem xmlns:ds="http://schemas.openxmlformats.org/officeDocument/2006/customXml" ds:itemID="{A24B75EB-8202-4907-9D1E-5F9CF0C2948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2860</TotalTime>
  <Words>463</Words>
  <Application>Microsoft Office PowerPoint</Application>
  <PresentationFormat>Custom</PresentationFormat>
  <Paragraphs>164</Paragraphs>
  <Slides>27</Slides>
  <Notes>1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Cambria Math</vt:lpstr>
      <vt:lpstr>Courier New</vt:lpstr>
      <vt:lpstr>Verdana</vt:lpstr>
      <vt:lpstr>Wingdings</vt:lpstr>
      <vt:lpstr>Blank</vt:lpstr>
      <vt:lpstr>PowerPoint Presentation</vt:lpstr>
      <vt:lpstr>Green’s function method for inter-layer tunneling between two-dimensional materials</vt:lpstr>
      <vt:lpstr>General idea</vt:lpstr>
      <vt:lpstr>Motivation</vt:lpstr>
      <vt:lpstr>What is QTM?</vt:lpstr>
      <vt:lpstr>What is QTM?</vt:lpstr>
      <vt:lpstr>What is QTM?</vt:lpstr>
      <vt:lpstr>Motivation</vt:lpstr>
      <vt:lpstr>Motivation</vt:lpstr>
      <vt:lpstr>Base Edge Exploration</vt:lpstr>
      <vt:lpstr>Investigate self-energies, z-GNR – onsite</vt:lpstr>
      <vt:lpstr>PowerPoint Presentation</vt:lpstr>
      <vt:lpstr>Armchair, N=12</vt:lpstr>
      <vt:lpstr>PowerPoint Presentation</vt:lpstr>
      <vt:lpstr>Naïve extrapolate: k-NN</vt:lpstr>
      <vt:lpstr>Naïve extrapolate: k-NN</vt:lpstr>
      <vt:lpstr>PowerPoint Presentation</vt:lpstr>
      <vt:lpstr>Extrapolation</vt:lpstr>
      <vt:lpstr>Adaptive kNN for reduced corner-edge pair influence</vt:lpstr>
      <vt:lpstr>DFT</vt:lpstr>
      <vt:lpstr>AA stacking, 4 atoms/UC</vt:lpstr>
      <vt:lpstr>AB stacking, 4 atoms/UC</vt:lpstr>
      <vt:lpstr>AA stacking, 16 atoms/UC</vt:lpstr>
      <vt:lpstr>AA stacking, 16 atoms/UC Vs. 4 atoms/UC</vt:lpstr>
      <vt:lpstr>AB stacking, 16 atoms/UC</vt:lpstr>
      <vt:lpstr>AA stacking, 32 atoms/UC</vt:lpstr>
      <vt:lpstr>AB stacking, 32 atoms/UC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25</cp:revision>
  <dcterms:created xsi:type="dcterms:W3CDTF">2026-04-08T09:55:39Z</dcterms:created>
  <dcterms:modified xsi:type="dcterms:W3CDTF">2026-06-29T22:17:51Z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