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2" r:id="rId12"/>
  </p:sldMasterIdLst>
  <p:notesMasterIdLst>
    <p:notesMasterId r:id="rId40"/>
  </p:notesMasterIdLst>
  <p:handoutMasterIdLst>
    <p:handoutMasterId r:id="rId41"/>
  </p:handoutMasterIdLst>
  <p:sldIdLst>
    <p:sldId id="256" r:id="rId13"/>
    <p:sldId id="260" r:id="rId14"/>
    <p:sldId id="257" r:id="rId15"/>
    <p:sldId id="280" r:id="rId16"/>
    <p:sldId id="283" r:id="rId17"/>
    <p:sldId id="281" r:id="rId18"/>
    <p:sldId id="282" r:id="rId19"/>
    <p:sldId id="284" r:id="rId20"/>
    <p:sldId id="286" r:id="rId21"/>
    <p:sldId id="287" r:id="rId22"/>
    <p:sldId id="261" r:id="rId23"/>
    <p:sldId id="262" r:id="rId24"/>
    <p:sldId id="263" r:id="rId25"/>
    <p:sldId id="267" r:id="rId26"/>
    <p:sldId id="266" r:id="rId27"/>
    <p:sldId id="268" r:id="rId28"/>
    <p:sldId id="270" r:id="rId29"/>
    <p:sldId id="271" r:id="rId30"/>
    <p:sldId id="269" r:id="rId31"/>
    <p:sldId id="272" r:id="rId32"/>
    <p:sldId id="273" r:id="rId33"/>
    <p:sldId id="274" r:id="rId34"/>
    <p:sldId id="275" r:id="rId35"/>
    <p:sldId id="279" r:id="rId36"/>
    <p:sldId id="276" r:id="rId37"/>
    <p:sldId id="277" r:id="rId38"/>
    <p:sldId id="278" r:id="rId39"/>
  </p:sldIdLst>
  <p:sldSz cx="12190413" cy="6858000"/>
  <p:notesSz cx="6858000" cy="9144000"/>
  <p:custDataLst>
    <p:tags r:id="rId42"/>
  </p:custDataLst>
  <p:defaultTextStyle>
    <a:defPPr>
      <a:defRPr lang="da-DK"/>
    </a:defPPr>
    <a:lvl1pPr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7BCE9E6B-F3C6-42B2-BCF2-26CC7B6F0665}">
          <p14:sldIdLst>
            <p14:sldId id="256"/>
            <p14:sldId id="260"/>
            <p14:sldId id="257"/>
          </p14:sldIdLst>
        </p14:section>
        <p14:section name="About QTM" id="{E400A3D1-4038-4DEC-8791-962ABA06C5A9}">
          <p14:sldIdLst>
            <p14:sldId id="280"/>
            <p14:sldId id="283"/>
            <p14:sldId id="281"/>
            <p14:sldId id="282"/>
          </p14:sldIdLst>
        </p14:section>
        <p14:section name="The motivation" id="{035CB87A-A545-4BD8-818E-D87A2E4E749A}">
          <p14:sldIdLst>
            <p14:sldId id="284"/>
            <p14:sldId id="286"/>
            <p14:sldId id="287"/>
            <p14:sldId id="261"/>
            <p14:sldId id="262"/>
            <p14:sldId id="263"/>
            <p14:sldId id="267"/>
            <p14:sldId id="266"/>
            <p14:sldId id="268"/>
            <p14:sldId id="270"/>
            <p14:sldId id="271"/>
            <p14:sldId id="269"/>
            <p14:sldId id="272"/>
            <p14:sldId id="273"/>
            <p14:sldId id="274"/>
            <p14:sldId id="275"/>
            <p14:sldId id="279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9238E"/>
    <a:srgbClr val="008737"/>
    <a:srgbClr val="F7BCB3"/>
    <a:srgbClr val="FC7634"/>
    <a:srgbClr val="F6D04D"/>
    <a:srgbClr val="171748"/>
    <a:srgbClr val="1FD082"/>
    <a:srgbClr val="2F3EEA"/>
    <a:srgbClr val="FFFFFF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73A0DAA-6AF3-43AB-8588-CEC1D06C72B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976" autoAdjust="0"/>
  </p:normalViewPr>
  <p:slideViewPr>
    <p:cSldViewPr showGuides="1">
      <p:cViewPr>
        <p:scale>
          <a:sx n="150" d="100"/>
          <a:sy n="150" d="100"/>
        </p:scale>
        <p:origin x="-156" y="126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.xml"/><Relationship Id="rId18" Type="http://schemas.openxmlformats.org/officeDocument/2006/relationships/slide" Target="slides/slide6.xml"/><Relationship Id="rId26" Type="http://schemas.openxmlformats.org/officeDocument/2006/relationships/slide" Target="slides/slide14.xml"/><Relationship Id="rId39" Type="http://schemas.openxmlformats.org/officeDocument/2006/relationships/slide" Target="slides/slide27.xml"/><Relationship Id="rId21" Type="http://schemas.openxmlformats.org/officeDocument/2006/relationships/slide" Target="slides/slide9.xml"/><Relationship Id="rId34" Type="http://schemas.openxmlformats.org/officeDocument/2006/relationships/slide" Target="slides/slide22.xml"/><Relationship Id="rId42" Type="http://schemas.openxmlformats.org/officeDocument/2006/relationships/tags" Target="tags/tag1.xml"/><Relationship Id="rId7" Type="http://schemas.openxmlformats.org/officeDocument/2006/relationships/customXml" Target="../customXml/item7.xml"/><Relationship Id="rId2" Type="http://schemas.openxmlformats.org/officeDocument/2006/relationships/customXml" Target="../customXml/item2.xml"/><Relationship Id="rId16" Type="http://schemas.openxmlformats.org/officeDocument/2006/relationships/slide" Target="slides/slide4.xml"/><Relationship Id="rId29" Type="http://schemas.openxmlformats.org/officeDocument/2006/relationships/slide" Target="slides/slide17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12.xml"/><Relationship Id="rId32" Type="http://schemas.openxmlformats.org/officeDocument/2006/relationships/slide" Target="slides/slide20.xml"/><Relationship Id="rId37" Type="http://schemas.openxmlformats.org/officeDocument/2006/relationships/slide" Target="slides/slide25.xml"/><Relationship Id="rId40" Type="http://schemas.openxmlformats.org/officeDocument/2006/relationships/notesMaster" Target="notesMasters/notesMaster1.xml"/><Relationship Id="rId45" Type="http://schemas.openxmlformats.org/officeDocument/2006/relationships/theme" Target="theme/theme1.xml"/><Relationship Id="rId5" Type="http://schemas.openxmlformats.org/officeDocument/2006/relationships/customXml" Target="../customXml/item5.xml"/><Relationship Id="rId15" Type="http://schemas.openxmlformats.org/officeDocument/2006/relationships/slide" Target="slides/slide3.xml"/><Relationship Id="rId23" Type="http://schemas.openxmlformats.org/officeDocument/2006/relationships/slide" Target="slides/slide11.xml"/><Relationship Id="rId28" Type="http://schemas.openxmlformats.org/officeDocument/2006/relationships/slide" Target="slides/slide16.xml"/><Relationship Id="rId36" Type="http://schemas.openxmlformats.org/officeDocument/2006/relationships/slide" Target="slides/slide24.xml"/><Relationship Id="rId10" Type="http://schemas.openxmlformats.org/officeDocument/2006/relationships/customXml" Target="../customXml/item10.xml"/><Relationship Id="rId19" Type="http://schemas.openxmlformats.org/officeDocument/2006/relationships/slide" Target="slides/slide7.xml"/><Relationship Id="rId31" Type="http://schemas.openxmlformats.org/officeDocument/2006/relationships/slide" Target="slides/slide19.xml"/><Relationship Id="rId44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slide" Target="slides/slide2.xml"/><Relationship Id="rId22" Type="http://schemas.openxmlformats.org/officeDocument/2006/relationships/slide" Target="slides/slide10.xml"/><Relationship Id="rId27" Type="http://schemas.openxmlformats.org/officeDocument/2006/relationships/slide" Target="slides/slide15.xml"/><Relationship Id="rId30" Type="http://schemas.openxmlformats.org/officeDocument/2006/relationships/slide" Target="slides/slide18.xml"/><Relationship Id="rId35" Type="http://schemas.openxmlformats.org/officeDocument/2006/relationships/slide" Target="slides/slide23.xml"/><Relationship Id="rId43" Type="http://schemas.openxmlformats.org/officeDocument/2006/relationships/presProps" Target="presProps.xml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Relationship Id="rId12" Type="http://schemas.openxmlformats.org/officeDocument/2006/relationships/slideMaster" Target="slideMasters/slideMaster1.xml"/><Relationship Id="rId17" Type="http://schemas.openxmlformats.org/officeDocument/2006/relationships/slide" Target="slides/slide5.xml"/><Relationship Id="rId25" Type="http://schemas.openxmlformats.org/officeDocument/2006/relationships/slide" Target="slides/slide13.xml"/><Relationship Id="rId33" Type="http://schemas.openxmlformats.org/officeDocument/2006/relationships/slide" Target="slides/slide21.xml"/><Relationship Id="rId38" Type="http://schemas.openxmlformats.org/officeDocument/2006/relationships/slide" Target="slides/slide26.xml"/><Relationship Id="rId46" Type="http://schemas.openxmlformats.org/officeDocument/2006/relationships/tableStyles" Target="tableStyles.xml"/><Relationship Id="rId20" Type="http://schemas.openxmlformats.org/officeDocument/2006/relationships/slide" Target="slides/slide8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fld id="{491ECFBD-4A0D-4BCF-98A8-E205F44719BF}" type="slidenum">
              <a:rPr lang="da-DK" smtClean="0">
                <a:latin typeface="Arial" panose="020B0604020202020204" pitchFamily="34" charset="0"/>
              </a:rPr>
              <a:pPr/>
              <a:t>‹#›</a:t>
            </a:fld>
            <a:endParaRPr lang="da-DK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8099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fld id="{C734BB09-483B-4C4B-A5A4-C02A22055B01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7783607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5969466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" name="Logo white">
            <a:extLst>
              <a:ext uri="{FF2B5EF4-FFF2-40B4-BE49-F238E27FC236}">
                <a16:creationId xmlns:a16="http://schemas.microsoft.com/office/drawing/2014/main" id="{275A6477-FE3A-4D40-B1FE-E46C11E344A5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17C6C-7BC3-4888-BC29-FAB17565D11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E4668-D07F-4B96-9755-17540273485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405568-6052-8CC1-2F0F-7E96F4FBFE5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7214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B285F0C-D96E-1E47-B5CB-0D4402240661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5919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FCA8860-CDAD-4F91-9292-2B11655C19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7A21B-9B48-4777-BF0D-9FB95719C2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38090D-9E9E-D19F-64E8-48E3721AB66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774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1117" userDrawn="1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426127"/>
            <a:ext cx="9312374" cy="9727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4410177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001" y="1706399"/>
            <a:ext cx="4409100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2499420-B0E8-4C8A-8C00-E21262271A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EE7F0E-E606-41AC-BBBF-B5AECB1112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41092B-FA79-D49E-746F-FF6DB5D4790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3522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426127"/>
            <a:ext cx="6048672" cy="9727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726" y="1706328"/>
            <a:ext cx="6048672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1213" y="849734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1213" y="3563718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2986237-C7E2-4498-82A4-361A340A650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84AB2-789D-CA6F-1F13-DDE15E0777A5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2670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 userDrawn="1">
          <p15:clr>
            <a:srgbClr val="F26B43"/>
          </p15:clr>
        </p15:guide>
        <p15:guide id="2" pos="5247" userDrawn="1">
          <p15:clr>
            <a:srgbClr val="F26B43"/>
          </p15:clr>
        </p15:guide>
        <p15:guide id="3" pos="1117" userDrawn="1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360" y="426127"/>
            <a:ext cx="6865740" cy="9727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360" y="1706328"/>
            <a:ext cx="6865740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E26B732-1A52-4AA9-89FC-8FC5439E40D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A4A2F0-05CC-BD72-2EAF-26BDB05FDFF4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3562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2660" userDrawn="1">
          <p15:clr>
            <a:srgbClr val="F26B43"/>
          </p15:clr>
        </p15:guide>
        <p15:guide id="3" pos="2335" userDrawn="1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50" y="980727"/>
            <a:ext cx="3740400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407150"/>
            <a:ext cx="3740400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27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US" dirty="0"/>
              <a:t>Click to add title one line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2750" y="4406899"/>
            <a:ext cx="3740401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78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US" dirty="0"/>
              <a:t>Click to add title one line</a:t>
            </a:r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7850" y="4406899"/>
            <a:ext cx="3740400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50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149" y="1548581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8648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7FD562-C942-35C5-7D0D-385A66B6BC5A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3740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 userDrawn="1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97DEAA-3B7B-49C7-8C28-3F21F36A9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F74546-9D06-4CF7-806D-E04B043BF5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53AB3-8AAF-469F-AD3F-AE5E1A39D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64AFAB-198F-4969-6DA5-846B1D959C6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845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7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75ABF-082F-4A38-B952-09157E37A8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62CE95-4F12-D4A0-AAC9-34618B004C8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926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-3600"/>
            <a:ext cx="12193200" cy="68616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da-DK"/>
              <a:t>Date</a:t>
            </a:r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1786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79238E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da-DK"/>
              <a:t>Date</a:t>
            </a:r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6376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Logo color">
            <a:extLst>
              <a:ext uri="{FF2B5EF4-FFF2-40B4-BE49-F238E27FC236}">
                <a16:creationId xmlns:a16="http://schemas.microsoft.com/office/drawing/2014/main" id="{ADC92552-7939-46C1-AAFE-B97F51EBFFE9}"/>
              </a:ext>
            </a:extLst>
          </p:cNvPr>
          <p:cNvSpPr>
            <a:spLocks noChangeAspect="1"/>
          </p:cNvSpPr>
          <p:nvPr userDrawn="1">
            <p:custDataLst>
              <p:tags r:id="rId13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79238E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5590800" y="6541200"/>
            <a:ext cx="54972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spcBef>
                <a:spcPts val="0"/>
              </a:spcBef>
              <a:defRPr sz="7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a-DK"/>
              <a:t>Title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6450" y="6541200"/>
            <a:ext cx="4326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j-lt"/>
              </a:defRPr>
            </a:lvl1pPr>
          </a:lstStyle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726" y="426127"/>
            <a:ext cx="9312374" cy="972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da-DK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3676" name="text" descr="{&quot;templafy&quot;:{&quot;type&quot;:&quot;text&quot;,&quot;binding&quot;:&quot;UserProfile.Offices.Workarea_{{DocumentLanguage}}&quot;}}" title="UserProfile.Offices.Workarea_{{DocumentLanguage}}"/>
          <p:cNvSpPr>
            <a:spLocks noChangeArrowheads="1"/>
          </p:cNvSpPr>
          <p:nvPr userDrawn="1"/>
        </p:nvSpPr>
        <p:spPr bwMode="auto">
          <a:xfrm>
            <a:off x="1774726" y="6541200"/>
            <a:ext cx="3397071" cy="31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 eaLnBrk="0" hangingPunct="0">
              <a:spcBef>
                <a:spcPct val="0"/>
              </a:spcBef>
            </a:pPr>
            <a:r>
              <a:rPr lang="da-DK" sz="700" b="1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Technical University of Denmark</a:t>
            </a:r>
            <a:endParaRPr lang="da-DK" sz="7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5" name="date" descr="{&quot;templafy&quot;:{&quot;type&quot;:&quot;date&quot;,&quot;binding&quot;:&quot;Form.Date&quot;,&quot;format&quot;:&quot;{{DateFormats.GeneralDate}}&quot;}}" title="Form.Date">
            <a:extLst>
              <a:ext uri="{FF2B5EF4-FFF2-40B4-BE49-F238E27FC236}">
                <a16:creationId xmlns:a16="http://schemas.microsoft.com/office/drawing/2014/main" id="{792B975C-625D-4095-8E1D-63F20A11B57C}"/>
              </a:ext>
            </a:extLst>
          </p:cNvPr>
          <p:cNvSpPr/>
          <p:nvPr userDrawn="1"/>
        </p:nvSpPr>
        <p:spPr bwMode="auto">
          <a:xfrm>
            <a:off x="251363" y="6541200"/>
            <a:ext cx="1104013" cy="316800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7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  <a:ea typeface="ＭＳ Ｐゴシック" pitchFamily="-80" charset="-128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1498C49-6F56-292E-8610-924B874793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4702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71" r:id="rId2"/>
    <p:sldLayoutId id="2147483664" r:id="rId3"/>
    <p:sldLayoutId id="2147483677" r:id="rId4"/>
    <p:sldLayoutId id="2147483672" r:id="rId5"/>
    <p:sldLayoutId id="2147483673" r:id="rId6"/>
    <p:sldLayoutId id="2147483676" r:id="rId7"/>
    <p:sldLayoutId id="2147483666" r:id="rId8"/>
    <p:sldLayoutId id="2147483667" r:id="rId9"/>
    <p:sldLayoutId id="2147483668" r:id="rId10"/>
    <p:sldLayoutId id="2147483669" r:id="rId11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 userDrawn="1">
          <p15:clr>
            <a:srgbClr val="F26B43"/>
          </p15:clr>
        </p15:guide>
        <p15:guide id="4" orient="horz" pos="881" userDrawn="1">
          <p15:clr>
            <a:srgbClr val="F26B43"/>
          </p15:clr>
        </p15:guide>
        <p15:guide id="5" orient="horz" pos="107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2" Type="http://schemas.openxmlformats.org/officeDocument/2006/relationships/customXml" Target="../../customXml/item10.xml"/><Relationship Id="rId1" Type="http://schemas.openxmlformats.org/officeDocument/2006/relationships/customXml" Target="../../customXml/item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2.xml"/><Relationship Id="rId1" Type="http://schemas.openxmlformats.org/officeDocument/2006/relationships/customXml" Target="../../customXml/item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customXml" Target="../../customXml/item11.xml"/><Relationship Id="rId1" Type="http://schemas.openxmlformats.org/officeDocument/2006/relationships/customXml" Target="../../customXml/item6.xml"/><Relationship Id="rId4" Type="http://schemas.openxmlformats.org/officeDocument/2006/relationships/image" Target="../media/image1.gi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doi.org/10.1038/s41586-022-05685-y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.gif"/><Relationship Id="rId4" Type="http://schemas.openxmlformats.org/officeDocument/2006/relationships/hyperlink" Target="https://doi.org/10.1038/s41586-022-05685-y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gif"/><Relationship Id="rId3" Type="http://schemas.openxmlformats.org/officeDocument/2006/relationships/hyperlink" Target="https://doi.org/10.1038/s41586-022-05685-y" TargetMode="External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hyperlink" Target="https://doi.org/10.1038/s41586-022-05685-y" TargetMode="External"/><Relationship Id="rId7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hyperlink" Target="https://doi.org/10.1038/s41586-026-10378-x" TargetMode="External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.gif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20772F9-F0FC-4258-943A-483E60A34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13EF6E-BC23-40A0-80D4-1EBE64DCC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4D0D3-633D-52CF-E20B-AF56FD889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 dirty="0"/>
          </a:p>
        </p:txBody>
      </p:sp>
    </p:spTree>
    <p:custDataLst>
      <p:custData r:id="rId1"/>
      <p:custData r:id="rId2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4358EA-4D5B-461F-997D-DE6729900D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400" dirty="0"/>
              <a:t>Green’s function method for inter-layer tunneling between two-dimensional materials</a:t>
            </a:r>
            <a:endParaRPr lang="en-GB" sz="4400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8CE6942-A17C-4247-86C6-41FACF7E90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Bastian Valhøj Kristensen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45995EB-10E4-4119-B468-5CD7D10A093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A221E4-1851-497D-90EE-984C711216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BD79507-030C-48B9-4B06-13AEB08862A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3B86D4-9E38-7817-74B8-1E34E39097BF}"/>
              </a:ext>
            </a:extLst>
          </p:cNvPr>
          <p:cNvSpPr txBox="1"/>
          <p:nvPr/>
        </p:nvSpPr>
        <p:spPr>
          <a:xfrm>
            <a:off x="7103318" y="5161275"/>
            <a:ext cx="4968552" cy="93358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spcBef>
                <a:spcPts val="432"/>
              </a:spcBef>
            </a:pPr>
            <a:r>
              <a:rPr lang="da-DK" sz="1800" b="1" dirty="0">
                <a:solidFill>
                  <a:schemeClr val="bg1"/>
                </a:solidFill>
                <a:latin typeface="+mn-lt"/>
                <a:ea typeface="+mn-ea"/>
              </a:rPr>
              <a:t>Supervisor and Co-supervisor</a:t>
            </a:r>
          </a:p>
          <a:p>
            <a:pPr algn="r">
              <a:spcBef>
                <a:spcPts val="432"/>
              </a:spcBef>
            </a:pPr>
            <a:r>
              <a:rPr lang="da-DK" sz="1800" dirty="0">
                <a:solidFill>
                  <a:schemeClr val="bg1"/>
                </a:solidFill>
                <a:latin typeface="+mn-lt"/>
                <a:ea typeface="+mn-ea"/>
              </a:rPr>
              <a:t>Mads Brandbyge (</a:t>
            </a:r>
            <a:r>
              <a:rPr lang="da-DK" sz="1800" u="sng" dirty="0">
                <a:solidFill>
                  <a:schemeClr val="bg1"/>
                </a:solidFill>
                <a:latin typeface="+mn-lt"/>
                <a:ea typeface="+mn-ea"/>
              </a:rPr>
              <a:t>mabr@dtu.dk</a:t>
            </a:r>
            <a:r>
              <a:rPr lang="da-DK" sz="1800" dirty="0">
                <a:solidFill>
                  <a:schemeClr val="bg1"/>
                </a:solidFill>
                <a:latin typeface="+mn-lt"/>
                <a:ea typeface="+mn-ea"/>
              </a:rPr>
              <a:t>)</a:t>
            </a:r>
          </a:p>
          <a:p>
            <a:pPr algn="r">
              <a:spcBef>
                <a:spcPts val="432"/>
              </a:spcBef>
            </a:pPr>
            <a:r>
              <a:rPr lang="da-DK" sz="1800" dirty="0">
                <a:solidFill>
                  <a:schemeClr val="bg1"/>
                </a:solidFill>
                <a:latin typeface="+mn-lt"/>
                <a:ea typeface="+mn-ea"/>
              </a:rPr>
              <a:t>Alan Ernesto Anaya Morales (</a:t>
            </a:r>
            <a:r>
              <a:rPr lang="da-DK" sz="1800" u="sng" dirty="0">
                <a:solidFill>
                  <a:schemeClr val="bg1"/>
                </a:solidFill>
                <a:latin typeface="+mn-lt"/>
                <a:ea typeface="+mn-ea"/>
              </a:rPr>
              <a:t>alemor@dtu.dk</a:t>
            </a:r>
            <a:r>
              <a:rPr lang="da-DK" sz="1800" dirty="0">
                <a:solidFill>
                  <a:schemeClr val="bg1"/>
                </a:solidFill>
                <a:latin typeface="+mn-lt"/>
                <a:ea typeface="+mn-ea"/>
              </a:rPr>
              <a:t>)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3207141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2AA1A2F8-5ACA-4C54-BB52-D443EC003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General </a:t>
            </a:r>
            <a:r>
              <a:rPr lang="da-DK" dirty="0" err="1"/>
              <a:t>idea</a:t>
            </a:r>
            <a:endParaRPr lang="uk-UA" dirty="0"/>
          </a:p>
        </p:txBody>
      </p:sp>
      <p:sp>
        <p:nvSpPr>
          <p:cNvPr id="10" name="FLD_Presentation Title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053EF8-C81F-6E60-C765-68EF71FC890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112E82F-D60E-3ADF-2BEB-6380398087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950" y="1706563"/>
            <a:ext cx="9090024" cy="4545012"/>
          </a:xfr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EA24B26-AB90-24AD-C1FE-EE04640A79BE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679382" y="4094270"/>
            <a:ext cx="1728192" cy="486858"/>
          </a:xfrm>
          <a:prstGeom prst="straightConnector1">
            <a:avLst/>
          </a:prstGeom>
          <a:ln w="28575">
            <a:headEnd type="arrow" w="med" len="med"/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796381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9D7C9-8797-E67D-D2E1-0ADBDCC36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6CE43D-0B21-E4AB-C2AC-195F95CD795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CDB744-4AE1-CD5D-DD98-8E4A5EC8FD2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61D13DC-4961-4071-4CED-E03F251CA15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7" name="Content Placeholder 14">
            <a:extLst>
              <a:ext uri="{FF2B5EF4-FFF2-40B4-BE49-F238E27FC236}">
                <a16:creationId xmlns:a16="http://schemas.microsoft.com/office/drawing/2014/main" id="{7C896797-76D7-4901-C2DB-C680DEDFDB2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30786"/>
          <a:stretch>
            <a:fillRect/>
          </a:stretch>
        </p:blipFill>
        <p:spPr bwMode="auto">
          <a:xfrm>
            <a:off x="910630" y="1628800"/>
            <a:ext cx="3456384" cy="27835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D206E55-B34A-5AF6-0E49-E3D81756C5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913204" y="1645996"/>
            <a:ext cx="4464496" cy="22322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96F0961B-50E6-8986-0EDD-1EDE1B562279}"/>
              </a:ext>
            </a:extLst>
          </p:cNvPr>
          <p:cNvSpPr/>
          <p:nvPr/>
        </p:nvSpPr>
        <p:spPr bwMode="auto">
          <a:xfrm>
            <a:off x="4905092" y="2660524"/>
            <a:ext cx="719730" cy="360040"/>
          </a:xfrm>
          <a:prstGeom prst="rightArrow">
            <a:avLst/>
          </a:prstGeom>
          <a:solidFill>
            <a:schemeClr val="tx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404743-6D27-7707-E6A9-EB51E73E2E26}"/>
              </a:ext>
            </a:extLst>
          </p:cNvPr>
          <p:cNvSpPr txBox="1"/>
          <p:nvPr/>
        </p:nvSpPr>
        <p:spPr>
          <a:xfrm>
            <a:off x="1054646" y="4077072"/>
            <a:ext cx="25487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9B583F6-95B9-A6B7-C2E6-BA165DAF0CD5}"/>
              </a:ext>
            </a:extLst>
          </p:cNvPr>
          <p:cNvSpPr txBox="1"/>
          <p:nvPr/>
        </p:nvSpPr>
        <p:spPr>
          <a:xfrm flipH="1">
            <a:off x="8183438" y="6262596"/>
            <a:ext cx="4006974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 </a:t>
            </a:r>
            <a:r>
              <a:rPr lang="da-DK" sz="1100" dirty="0">
                <a:latin typeface="Courier New" panose="02070309020205020404" pitchFamily="49" charset="0"/>
                <a:cs typeface="Courier New" panose="02070309020205020404" pitchFamily="49" charset="0"/>
                <a:hlinkClick r:id="rId4"/>
              </a:rPr>
              <a:t>https://doi.org/10.1038/s41586-022-05685-y</a:t>
            </a:r>
            <a:r>
              <a:rPr lang="da-DK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sz="1100" dirty="0" err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8912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48FD0-9E3D-74CE-91DB-B1E935937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7910156-41D2-AC4A-8238-11F9971E2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280" y="2145479"/>
            <a:ext cx="4439270" cy="3962953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05483907-E1D8-55D5-0A1B-28BA3F9EE2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b="30786"/>
          <a:stretch>
            <a:fillRect/>
          </a:stretch>
        </p:blipFill>
        <p:spPr bwMode="auto">
          <a:xfrm>
            <a:off x="8540237" y="116632"/>
            <a:ext cx="3456384" cy="27835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86ECAC-E125-EC8D-7CB9-55040FB3C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QTM?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C0B06D-C0FC-5F52-5781-BD4C472B91D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E3D621-4AD7-A396-7D79-411D4527612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FC0FA5F-381B-DA1D-BBC8-BD11D64F41D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6676D4-8CCA-E73E-23D9-93C33E37E40E}"/>
              </a:ext>
            </a:extLst>
          </p:cNvPr>
          <p:cNvSpPr txBox="1"/>
          <p:nvPr/>
        </p:nvSpPr>
        <p:spPr>
          <a:xfrm>
            <a:off x="8551133" y="2723438"/>
            <a:ext cx="25487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D56CEB-E343-274D-459F-70CA05695621}"/>
              </a:ext>
            </a:extLst>
          </p:cNvPr>
          <p:cNvSpPr txBox="1"/>
          <p:nvPr/>
        </p:nvSpPr>
        <p:spPr>
          <a:xfrm flipH="1">
            <a:off x="8255445" y="6347234"/>
            <a:ext cx="3934967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 </a:t>
            </a:r>
            <a:r>
              <a:rPr lang="da-DK" sz="1100" dirty="0">
                <a:latin typeface="Courier New" panose="02070309020205020404" pitchFamily="49" charset="0"/>
                <a:cs typeface="Courier New" panose="02070309020205020404" pitchFamily="49" charset="0"/>
                <a:hlinkClick r:id="rId4"/>
              </a:rPr>
              <a:t>https://doi.org/10.1038/s41586-022-05685-y</a:t>
            </a:r>
            <a:r>
              <a:rPr lang="da-DK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sz="1100" dirty="0" err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B22322-0737-F8F9-F169-D3D971C70CFE}"/>
              </a:ext>
            </a:extLst>
          </p:cNvPr>
          <p:cNvSpPr txBox="1"/>
          <p:nvPr/>
        </p:nvSpPr>
        <p:spPr>
          <a:xfrm>
            <a:off x="1619234" y="5661248"/>
            <a:ext cx="25487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8FF7CF3-E9C8-6902-9E15-75EB352E19DF}"/>
              </a:ext>
            </a:extLst>
          </p:cNvPr>
          <p:cNvSpPr/>
          <p:nvPr/>
        </p:nvSpPr>
        <p:spPr bwMode="auto">
          <a:xfrm>
            <a:off x="4078982" y="3573016"/>
            <a:ext cx="72008" cy="74912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D25E069-28ED-A5E2-6736-CA0A0BEE7D98}"/>
              </a:ext>
            </a:extLst>
          </p:cNvPr>
          <p:cNvCxnSpPr/>
          <p:nvPr/>
        </p:nvCxnSpPr>
        <p:spPr bwMode="auto">
          <a:xfrm flipH="1">
            <a:off x="4150990" y="2636912"/>
            <a:ext cx="432048" cy="93610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9A43DFB-4341-8DD4-3D60-584E3135E6F7}"/>
              </a:ext>
            </a:extLst>
          </p:cNvPr>
          <p:cNvSpPr txBox="1"/>
          <p:nvPr/>
        </p:nvSpPr>
        <p:spPr>
          <a:xfrm flipH="1">
            <a:off x="4550184" y="1753942"/>
            <a:ext cx="2520565" cy="113877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dirty="0">
                <a:latin typeface="+mn-lt"/>
              </a:rPr>
              <a:t>Conservation:</a:t>
            </a: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</a:rPr>
              <a:t>Energy</a:t>
            </a: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en-US" strike="sngStrike" dirty="0">
                <a:latin typeface="+mn-lt"/>
              </a:rPr>
              <a:t>Momentum</a:t>
            </a:r>
            <a:r>
              <a:rPr lang="en-US" dirty="0">
                <a:latin typeface="+mn-lt"/>
              </a:rPr>
              <a:t> </a:t>
            </a: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endParaRPr lang="en-US" dirty="0">
              <a:latin typeface="+mn-lt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E1F2EC9-EFFE-92BF-D6B0-CF0795D46783}"/>
              </a:ext>
            </a:extLst>
          </p:cNvPr>
          <p:cNvSpPr/>
          <p:nvPr/>
        </p:nvSpPr>
        <p:spPr bwMode="auto">
          <a:xfrm>
            <a:off x="4388822" y="3573016"/>
            <a:ext cx="72008" cy="74912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5114B9B-C811-BDF3-0923-C3161C32E54F}"/>
              </a:ext>
            </a:extLst>
          </p:cNvPr>
          <p:cNvCxnSpPr/>
          <p:nvPr/>
        </p:nvCxnSpPr>
        <p:spPr bwMode="auto">
          <a:xfrm flipH="1">
            <a:off x="4478838" y="3610472"/>
            <a:ext cx="1450544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5C47960-3702-F5CE-29FA-52317C0B81E6}"/>
              </a:ext>
            </a:extLst>
          </p:cNvPr>
          <p:cNvSpPr txBox="1"/>
          <p:nvPr/>
        </p:nvSpPr>
        <p:spPr>
          <a:xfrm flipH="1">
            <a:off x="6108314" y="3200593"/>
            <a:ext cx="2520565" cy="113877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dirty="0">
                <a:latin typeface="+mn-lt"/>
              </a:rPr>
              <a:t>Conservation:</a:t>
            </a: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</a:rPr>
              <a:t>Energy</a:t>
            </a: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</a:rPr>
              <a:t>Momentum </a:t>
            </a: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endParaRPr lang="en-US" dirty="0">
              <a:latin typeface="+mn-lt"/>
            </a:endParaRPr>
          </a:p>
        </p:txBody>
      </p:sp>
      <p:pic>
        <p:nvPicPr>
          <p:cNvPr id="31" name="Content Placeholder 7">
            <a:extLst>
              <a:ext uri="{FF2B5EF4-FFF2-40B4-BE49-F238E27FC236}">
                <a16:creationId xmlns:a16="http://schemas.microsoft.com/office/drawing/2014/main" id="{F3FF78A9-46BB-AC7A-B2C7-EA121C24E81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895406" y="3397183"/>
            <a:ext cx="4206040" cy="21030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656887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3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DA96807-A120-FF99-4464-618B6519D3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b="30786"/>
          <a:stretch>
            <a:fillRect/>
          </a:stretch>
        </p:blipFill>
        <p:spPr bwMode="auto">
          <a:xfrm>
            <a:off x="8540237" y="116632"/>
            <a:ext cx="3456384" cy="27835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387D006-F8F5-7418-40D5-71ACCB97A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QTM?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49D3DD-1B4C-5F3E-994A-E5A2572286D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958247-87F7-C686-2A06-2F888C03AE4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35D0ADA-662F-29C6-0E9C-87B18B74B2A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30CC5F-DA4A-F4BA-A830-1FBE9F6C025A}"/>
              </a:ext>
            </a:extLst>
          </p:cNvPr>
          <p:cNvSpPr txBox="1"/>
          <p:nvPr/>
        </p:nvSpPr>
        <p:spPr>
          <a:xfrm>
            <a:off x="8551133" y="2723438"/>
            <a:ext cx="25487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FE6270-1931-D803-3C30-3D7CCAA3CBFD}"/>
              </a:ext>
            </a:extLst>
          </p:cNvPr>
          <p:cNvSpPr txBox="1"/>
          <p:nvPr/>
        </p:nvSpPr>
        <p:spPr>
          <a:xfrm flipH="1">
            <a:off x="8183438" y="6311219"/>
            <a:ext cx="40069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 </a:t>
            </a:r>
            <a:r>
              <a:rPr lang="da-DK" sz="1100" dirty="0">
                <a:latin typeface="Courier New" panose="02070309020205020404" pitchFamily="49" charset="0"/>
                <a:cs typeface="Courier New" panose="02070309020205020404" pitchFamily="49" charset="0"/>
                <a:hlinkClick r:id="rId3"/>
              </a:rPr>
              <a:t>https://doi.org/10.1038/s41586-022-05685-y</a:t>
            </a:r>
            <a:r>
              <a:rPr lang="da-DK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sz="1100" dirty="0" err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7616B79-481C-FD68-3915-DA94316D18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7951" y="1398843"/>
            <a:ext cx="3237119" cy="2017068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7318FB4-17BD-420D-5D73-9196234BF725}"/>
              </a:ext>
            </a:extLst>
          </p:cNvPr>
          <p:cNvCxnSpPr/>
          <p:nvPr/>
        </p:nvCxnSpPr>
        <p:spPr bwMode="auto">
          <a:xfrm>
            <a:off x="3862958" y="2420888"/>
            <a:ext cx="392386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8CED5D98-3694-B28B-ED2E-BBC0E351C6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79" y="1551676"/>
            <a:ext cx="3679725" cy="1575846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EFEA22B-E0B0-8D42-BB51-5123249ECCC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964" y="4190384"/>
            <a:ext cx="3186711" cy="1575846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9DE04FD-CFA0-DD06-FE1C-20C590DF3B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9102" y="3651554"/>
            <a:ext cx="2016000" cy="2768239"/>
          </a:xfrm>
          <a:prstGeom prst="rect">
            <a:avLst/>
          </a:prstGeom>
        </p:spPr>
      </p:pic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EFB159C-EDC6-3C03-66CF-C4B8342A01A1}"/>
              </a:ext>
            </a:extLst>
          </p:cNvPr>
          <p:cNvCxnSpPr/>
          <p:nvPr/>
        </p:nvCxnSpPr>
        <p:spPr bwMode="auto">
          <a:xfrm>
            <a:off x="3758604" y="5035673"/>
            <a:ext cx="720080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DF6172AE-7746-60E5-773D-76A4288A0F8E}"/>
              </a:ext>
            </a:extLst>
          </p:cNvPr>
          <p:cNvSpPr txBox="1"/>
          <p:nvPr/>
        </p:nvSpPr>
        <p:spPr>
          <a:xfrm>
            <a:off x="4697951" y="2968787"/>
            <a:ext cx="25487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286930A-9AE0-BEA7-D537-432A4AF9E4F6}"/>
              </a:ext>
            </a:extLst>
          </p:cNvPr>
          <p:cNvSpPr txBox="1"/>
          <p:nvPr/>
        </p:nvSpPr>
        <p:spPr>
          <a:xfrm>
            <a:off x="5000112" y="6093319"/>
            <a:ext cx="25487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4E2EEB-AEC9-884A-98C6-5204E106BCA7}"/>
              </a:ext>
            </a:extLst>
          </p:cNvPr>
          <p:cNvSpPr txBox="1"/>
          <p:nvPr/>
        </p:nvSpPr>
        <p:spPr>
          <a:xfrm>
            <a:off x="838622" y="5445224"/>
            <a:ext cx="25487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8A3C17D-1B49-3290-CB1A-CDDAB30DD61F}"/>
              </a:ext>
            </a:extLst>
          </p:cNvPr>
          <p:cNvSpPr txBox="1"/>
          <p:nvPr/>
        </p:nvSpPr>
        <p:spPr>
          <a:xfrm>
            <a:off x="169218" y="2923403"/>
            <a:ext cx="25487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</a:t>
            </a:r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BE398183-DC84-896D-64EA-A847CA7E3E0C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895406" y="3397183"/>
            <a:ext cx="4206040" cy="21030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135792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00064-C3F0-5920-0385-1941D10D2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91D149CC-462F-E705-35BE-18ED0378C5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31110" y="411756"/>
            <a:ext cx="2547035" cy="13698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92BC82-18FD-AEAB-8173-58514A66E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QTM?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1C271D-8492-3BFC-3383-6E385D98A4D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115611-BFDF-606B-B023-9636493562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0B823BA-463D-7430-F1A3-C019D91AE42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70EF27-E0DC-27DF-D1AD-68DAE161EDEC}"/>
              </a:ext>
            </a:extLst>
          </p:cNvPr>
          <p:cNvSpPr txBox="1"/>
          <p:nvPr/>
        </p:nvSpPr>
        <p:spPr>
          <a:xfrm flipH="1">
            <a:off x="8204500" y="6127648"/>
            <a:ext cx="3985913" cy="38985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 </a:t>
            </a:r>
            <a:r>
              <a:rPr lang="da-DK" sz="1100" dirty="0">
                <a:latin typeface="Courier New" panose="02070309020205020404" pitchFamily="49" charset="0"/>
                <a:cs typeface="Courier New" panose="02070309020205020404" pitchFamily="49" charset="0"/>
                <a:hlinkClick r:id="rId3"/>
              </a:rPr>
              <a:t>https://doi.org/10.1038/s41586-022-05685-y</a:t>
            </a:r>
            <a:endParaRPr lang="da-DK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432"/>
              </a:spcBef>
            </a:pPr>
            <a:r>
              <a:rPr lang="da-DK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[2] </a:t>
            </a:r>
            <a:r>
              <a:rPr lang="da-DK" sz="1100" dirty="0">
                <a:latin typeface="Courier New" panose="02070309020205020404" pitchFamily="49" charset="0"/>
                <a:cs typeface="Courier New" panose="02070309020205020404" pitchFamily="49" charset="0"/>
                <a:hlinkClick r:id="rId4"/>
              </a:rPr>
              <a:t>https://doi.org/10.1038/s41586-026-10378-x</a:t>
            </a:r>
            <a:r>
              <a:rPr lang="da-DK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sz="1100" dirty="0" err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C014C82-27F7-5603-3498-2C077D32CA5E}"/>
              </a:ext>
            </a:extLst>
          </p:cNvPr>
          <p:cNvGrpSpPr/>
          <p:nvPr/>
        </p:nvGrpSpPr>
        <p:grpSpPr>
          <a:xfrm>
            <a:off x="387881" y="2342340"/>
            <a:ext cx="1655819" cy="3803574"/>
            <a:chOff x="5636154" y="620689"/>
            <a:chExt cx="1655819" cy="380357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51A0C61-BA20-9A76-7800-820FBBB11E0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763593" y="620689"/>
              <a:ext cx="1528380" cy="3793568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833422B-E64D-022F-7C9A-300097D55E06}"/>
                </a:ext>
              </a:extLst>
            </p:cNvPr>
            <p:cNvSpPr txBox="1"/>
            <p:nvPr/>
          </p:nvSpPr>
          <p:spPr>
            <a:xfrm>
              <a:off x="5636154" y="4254986"/>
              <a:ext cx="254878" cy="1692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>
                <a:spcBef>
                  <a:spcPts val="432"/>
                </a:spcBef>
              </a:pPr>
              <a:r>
                <a:rPr lang="en-US" sz="11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[2]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309B25BB-BA4C-DD91-C987-BF6132D67BC3}"/>
              </a:ext>
            </a:extLst>
          </p:cNvPr>
          <p:cNvSpPr txBox="1"/>
          <p:nvPr/>
        </p:nvSpPr>
        <p:spPr>
          <a:xfrm>
            <a:off x="5599344" y="1582320"/>
            <a:ext cx="25487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8711ACF-42BB-ADA3-8595-16D99A2FDDCF}"/>
              </a:ext>
            </a:extLst>
          </p:cNvPr>
          <p:cNvGrpSpPr/>
          <p:nvPr/>
        </p:nvGrpSpPr>
        <p:grpSpPr>
          <a:xfrm>
            <a:off x="3220913" y="2487099"/>
            <a:ext cx="2724251" cy="2512834"/>
            <a:chOff x="9053561" y="907073"/>
            <a:chExt cx="2724251" cy="2512834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B85DA685-475F-BC64-FD50-3A9CE996EB7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053561" y="907073"/>
              <a:ext cx="2724251" cy="2512834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1CE57CA-6C8D-BC9E-4CD2-2B71089D51E1}"/>
                </a:ext>
              </a:extLst>
            </p:cNvPr>
            <p:cNvSpPr txBox="1"/>
            <p:nvPr/>
          </p:nvSpPr>
          <p:spPr>
            <a:xfrm>
              <a:off x="9053561" y="3229399"/>
              <a:ext cx="254878" cy="1692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>
                <a:spcBef>
                  <a:spcPts val="432"/>
                </a:spcBef>
              </a:pPr>
              <a:r>
                <a:rPr lang="en-US" sz="11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[1]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773153B-0A02-0B3A-0940-8DC467CB22C3}"/>
                  </a:ext>
                </a:extLst>
              </p:cNvPr>
              <p:cNvSpPr/>
              <p:nvPr/>
            </p:nvSpPr>
            <p:spPr bwMode="auto">
              <a:xfrm>
                <a:off x="5303118" y="1133485"/>
                <a:ext cx="288032" cy="216024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bg1"/>
                </a:soli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ts val="432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da-DK" sz="9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</m:ctrlPr>
                        </m:sSubPr>
                        <m:e>
                          <m:r>
                            <a:rPr kumimoji="0" lang="da-DK" sz="9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𝜃</m:t>
                          </m:r>
                        </m:e>
                        <m:sub>
                          <m:r>
                            <a:rPr kumimoji="0" lang="da-DK" sz="9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𝑇𝐵𝐺</m:t>
                          </m:r>
                        </m:sub>
                      </m:sSub>
                    </m:oMath>
                  </m:oMathPara>
                </a14:m>
                <a:endParaRPr kumimoji="0" lang="en-US" sz="9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+mn-lt"/>
                  <a:ea typeface="ＭＳ Ｐゴシック" pitchFamily="-80" charset="-128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773153B-0A02-0B3A-0940-8DC467CB22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03118" y="1133485"/>
                <a:ext cx="288032" cy="216024"/>
              </a:xfrm>
              <a:prstGeom prst="rect">
                <a:avLst/>
              </a:prstGeom>
              <a:blipFill>
                <a:blip r:embed="rId7"/>
                <a:stretch>
                  <a:fillRect l="-8163"/>
                </a:stretch>
              </a:blipFill>
              <a:ln w="9525" cap="flat" cmpd="sng" algn="ctr">
                <a:solidFill>
                  <a:schemeClr val="bg1"/>
                </a:soli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Oval 18">
            <a:extLst>
              <a:ext uri="{FF2B5EF4-FFF2-40B4-BE49-F238E27FC236}">
                <a16:creationId xmlns:a16="http://schemas.microsoft.com/office/drawing/2014/main" id="{93BB2A81-38ED-F22F-B165-667892AB887D}"/>
              </a:ext>
            </a:extLst>
          </p:cNvPr>
          <p:cNvSpPr/>
          <p:nvPr/>
        </p:nvSpPr>
        <p:spPr bwMode="auto">
          <a:xfrm>
            <a:off x="5284231" y="1133485"/>
            <a:ext cx="288032" cy="300258"/>
          </a:xfrm>
          <a:prstGeom prst="ellipse">
            <a:avLst/>
          </a:prstGeom>
          <a:noFill/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6D07480B-1EDB-7BE1-FE38-B116EE98077D}"/>
                  </a:ext>
                </a:extLst>
              </p:cNvPr>
              <p:cNvSpPr/>
              <p:nvPr/>
            </p:nvSpPr>
            <p:spPr bwMode="auto">
              <a:xfrm>
                <a:off x="4243039" y="2061593"/>
                <a:ext cx="914840" cy="216024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ts val="432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da-DK" sz="9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</m:ctrlPr>
                        </m:sSubPr>
                        <m:e>
                          <m:r>
                            <a:rPr kumimoji="0" lang="da-DK" sz="9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𝜃</m:t>
                          </m:r>
                        </m:e>
                        <m:sub>
                          <m:r>
                            <a:rPr kumimoji="0" lang="da-DK" sz="9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𝑇𝐵𝐺</m:t>
                          </m:r>
                        </m:sub>
                      </m:sSub>
                      <m:r>
                        <a:rPr kumimoji="0" lang="da-DK" sz="9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ＭＳ Ｐゴシック" pitchFamily="-80" charset="-128"/>
                        </a:rPr>
                        <m:t>=</m:t>
                      </m:r>
                      <m:sSup>
                        <m:sSupPr>
                          <m:ctrlPr>
                            <a:rPr kumimoji="0" lang="da-DK" sz="900" b="0" i="0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</m:ctrlPr>
                        </m:sSupPr>
                        <m:e>
                          <m:r>
                            <a:rPr kumimoji="0" lang="da-DK" sz="900" b="0" i="0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2</m:t>
                          </m:r>
                          <m:r>
                            <a:rPr kumimoji="0" lang="da-DK" sz="900" b="0" i="0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.</m:t>
                          </m:r>
                          <m:r>
                            <a:rPr kumimoji="0" lang="da-DK" sz="9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7</m:t>
                          </m:r>
                        </m:e>
                        <m:sup>
                          <m:r>
                            <a:rPr kumimoji="0" lang="da-DK" sz="9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∘</m:t>
                          </m:r>
                        </m:sup>
                      </m:sSup>
                    </m:oMath>
                  </m:oMathPara>
                </a14:m>
                <a:endParaRPr kumimoji="0" lang="en-US" sz="9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+mn-lt"/>
                  <a:ea typeface="ＭＳ Ｐゴシック" pitchFamily="-80" charset="-128"/>
                </a:endParaRPr>
              </a:p>
            </p:txBody>
          </p:sp>
        </mc:Choice>
        <mc:Fallback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6D07480B-1EDB-7BE1-FE38-B116EE9807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43039" y="2061593"/>
                <a:ext cx="914840" cy="21602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Picture 25">
            <a:extLst>
              <a:ext uri="{FF2B5EF4-FFF2-40B4-BE49-F238E27FC236}">
                <a16:creationId xmlns:a16="http://schemas.microsoft.com/office/drawing/2014/main" id="{C4B898F7-444D-2B46-0900-24760C912E0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07374" y="2179070"/>
            <a:ext cx="2185136" cy="3700634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C8F66E6-E24E-022D-219F-88EC8A4172BD}"/>
              </a:ext>
            </a:extLst>
          </p:cNvPr>
          <p:cNvCxnSpPr/>
          <p:nvPr/>
        </p:nvCxnSpPr>
        <p:spPr bwMode="auto">
          <a:xfrm flipV="1">
            <a:off x="6497720" y="3448530"/>
            <a:ext cx="821622" cy="549104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DD21BDB-2410-3D7F-F9BD-2902DB63776B}"/>
              </a:ext>
            </a:extLst>
          </p:cNvPr>
          <p:cNvCxnSpPr/>
          <p:nvPr/>
        </p:nvCxnSpPr>
        <p:spPr bwMode="auto">
          <a:xfrm>
            <a:off x="6497720" y="3988951"/>
            <a:ext cx="821622" cy="520169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38DF2D5-B116-5E73-8E0D-3B1BE47BF1FD}"/>
              </a:ext>
            </a:extLst>
          </p:cNvPr>
          <p:cNvCxnSpPr/>
          <p:nvPr/>
        </p:nvCxnSpPr>
        <p:spPr bwMode="auto">
          <a:xfrm>
            <a:off x="2710830" y="2061593"/>
            <a:ext cx="0" cy="4103711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3A63CE4-5130-FCF2-2603-7F04DD827031}"/>
                  </a:ext>
                </a:extLst>
              </p:cNvPr>
              <p:cNvSpPr/>
              <p:nvPr/>
            </p:nvSpPr>
            <p:spPr bwMode="auto">
              <a:xfrm>
                <a:off x="959320" y="2031120"/>
                <a:ext cx="914840" cy="216024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bg1"/>
                </a:soli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ts val="432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da-DK" sz="9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</m:ctrlPr>
                        </m:sSubPr>
                        <m:e>
                          <m:r>
                            <a:rPr kumimoji="0" lang="da-DK" sz="9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𝜃</m:t>
                          </m:r>
                        </m:e>
                        <m:sub>
                          <m:r>
                            <a:rPr kumimoji="0" lang="da-DK" sz="9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𝑇𝐵𝐺</m:t>
                          </m:r>
                        </m:sub>
                      </m:sSub>
                      <m:r>
                        <a:rPr kumimoji="0" lang="da-DK" sz="9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ＭＳ Ｐゴシック" pitchFamily="-80" charset="-128"/>
                        </a:rPr>
                        <m:t>=</m:t>
                      </m:r>
                      <m:sSup>
                        <m:sSupPr>
                          <m:ctrlPr>
                            <a:rPr kumimoji="0" lang="da-DK" sz="900" b="0" i="0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</m:ctrlPr>
                        </m:sSupPr>
                        <m:e>
                          <m:r>
                            <a:rPr kumimoji="0" lang="da-DK" sz="900" b="0" i="0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1</m:t>
                          </m:r>
                          <m:r>
                            <a:rPr kumimoji="0" lang="da-DK" sz="900" b="0" i="0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.</m:t>
                          </m:r>
                          <m:r>
                            <a:rPr kumimoji="0" lang="da-DK" sz="9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2</m:t>
                          </m:r>
                        </m:e>
                        <m:sup>
                          <m:r>
                            <a:rPr kumimoji="0" lang="da-DK" sz="9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∘</m:t>
                          </m:r>
                        </m:sup>
                      </m:sSup>
                    </m:oMath>
                  </m:oMathPara>
                </a14:m>
                <a:endParaRPr kumimoji="0" lang="en-US" sz="9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+mn-lt"/>
                  <a:ea typeface="ＭＳ Ｐゴシック" pitchFamily="-80" charset="-128"/>
                </a:endParaRPr>
              </a:p>
            </p:txBody>
          </p:sp>
        </mc:Choice>
        <mc:Fallback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3A63CE4-5130-FCF2-2603-7F04DD8270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9320" y="2031120"/>
                <a:ext cx="914840" cy="21602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9525" cap="flat" cmpd="sng" algn="ctr">
                <a:solidFill>
                  <a:schemeClr val="bg1"/>
                </a:soli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TextBox 48">
            <a:extLst>
              <a:ext uri="{FF2B5EF4-FFF2-40B4-BE49-F238E27FC236}">
                <a16:creationId xmlns:a16="http://schemas.microsoft.com/office/drawing/2014/main" id="{97D459E6-372F-F922-EEBE-BE40E0CA8A8C}"/>
              </a:ext>
            </a:extLst>
          </p:cNvPr>
          <p:cNvSpPr txBox="1"/>
          <p:nvPr/>
        </p:nvSpPr>
        <p:spPr>
          <a:xfrm>
            <a:off x="7650706" y="5656716"/>
            <a:ext cx="25487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6D341CD-976E-0189-2FE3-9A8394EEFA94}"/>
              </a:ext>
            </a:extLst>
          </p:cNvPr>
          <p:cNvSpPr txBox="1"/>
          <p:nvPr/>
        </p:nvSpPr>
        <p:spPr>
          <a:xfrm>
            <a:off x="7650706" y="3723082"/>
            <a:ext cx="25487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3927040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2" grpId="0"/>
      <p:bldP spid="4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67C88-2F57-F5FE-4736-94CBE5AEC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BFA4B9A-4CAC-037C-8B26-49E52D9879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5166" t="4537" r="24650" b="3877"/>
          <a:stretch>
            <a:fillRect/>
          </a:stretch>
        </p:blipFill>
        <p:spPr bwMode="auto">
          <a:xfrm>
            <a:off x="8471470" y="2617308"/>
            <a:ext cx="2232249" cy="25385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E08C06-AA63-F15A-3D44-1C2DB957126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097882-E860-4B27-FE10-AFA5DF85C6C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F5D1F88-FFB0-7FFA-DDCC-052F218ACF5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7866EF7-4932-1D7B-67E9-5E366EAB7C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5" b="385"/>
          <a:stretch/>
        </p:blipFill>
        <p:spPr>
          <a:xfrm>
            <a:off x="5125080" y="2635577"/>
            <a:ext cx="2448272" cy="2520280"/>
          </a:xfrm>
          <a:prstGeom prst="rect">
            <a:avLst/>
          </a:prstGeom>
        </p:spPr>
      </p:pic>
      <p:sp>
        <p:nvSpPr>
          <p:cNvPr id="17" name="Hexagon 16">
            <a:extLst>
              <a:ext uri="{FF2B5EF4-FFF2-40B4-BE49-F238E27FC236}">
                <a16:creationId xmlns:a16="http://schemas.microsoft.com/office/drawing/2014/main" id="{F5027627-A36E-6EB2-954E-4D7AAB8F7B9D}"/>
              </a:ext>
            </a:extLst>
          </p:cNvPr>
          <p:cNvSpPr>
            <a:spLocks noChangeAspect="1"/>
          </p:cNvSpPr>
          <p:nvPr/>
        </p:nvSpPr>
        <p:spPr bwMode="auto">
          <a:xfrm rot="1708479">
            <a:off x="6101868" y="3661363"/>
            <a:ext cx="474366" cy="408936"/>
          </a:xfrm>
          <a:prstGeom prst="hexagon">
            <a:avLst>
              <a:gd name="adj" fmla="val 28243"/>
              <a:gd name="vf" fmla="val 115470"/>
            </a:avLst>
          </a:prstGeom>
          <a:noFill/>
          <a:ln w="3810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5B553F-8C5F-404F-CB77-8564E6307A16}"/>
              </a:ext>
            </a:extLst>
          </p:cNvPr>
          <p:cNvSpPr txBox="1"/>
          <p:nvPr/>
        </p:nvSpPr>
        <p:spPr>
          <a:xfrm flipH="1">
            <a:off x="10499706" y="2533374"/>
            <a:ext cx="86403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dirty="0">
                <a:latin typeface="+mn-lt"/>
              </a:rPr>
              <a:t>??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0A32128-2DDD-9870-F034-80EBBD21769E}"/>
                  </a:ext>
                </a:extLst>
              </p:cNvPr>
              <p:cNvSpPr txBox="1"/>
              <p:nvPr/>
            </p:nvSpPr>
            <p:spPr>
              <a:xfrm flipH="1">
                <a:off x="5989241" y="2224433"/>
                <a:ext cx="1080055" cy="2553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𝑇𝐵𝐺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∘</m:t>
                          </m:r>
                        </m:sup>
                      </m:sSup>
                    </m:oMath>
                  </m:oMathPara>
                </a14:m>
                <a:endParaRPr lang="en-US" dirty="0" err="1">
                  <a:latin typeface="+mn-lt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0A32128-2DDD-9870-F034-80EBBD2176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5989241" y="2224433"/>
                <a:ext cx="1080055" cy="255326"/>
              </a:xfrm>
              <a:prstGeom prst="rect">
                <a:avLst/>
              </a:prstGeom>
              <a:blipFill>
                <a:blip r:embed="rId4"/>
                <a:stretch>
                  <a:fillRect l="-2247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D70F487-5245-282B-7F54-A02B77C93A5E}"/>
                  </a:ext>
                </a:extLst>
              </p:cNvPr>
              <p:cNvSpPr txBox="1"/>
              <p:nvPr/>
            </p:nvSpPr>
            <p:spPr>
              <a:xfrm flipH="1">
                <a:off x="9119543" y="2304787"/>
                <a:ext cx="1080055" cy="2553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𝑇𝐵𝐺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1.1</m:t>
                          </m:r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∘</m:t>
                          </m:r>
                        </m:sup>
                      </m:sSup>
                    </m:oMath>
                  </m:oMathPara>
                </a14:m>
                <a:endParaRPr lang="en-US" dirty="0" err="1">
                  <a:latin typeface="+mn-lt"/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D70F487-5245-282B-7F54-A02B77C93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119543" y="2304787"/>
                <a:ext cx="1080055" cy="255326"/>
              </a:xfrm>
              <a:prstGeom prst="rect">
                <a:avLst/>
              </a:prstGeom>
              <a:blipFill>
                <a:blip r:embed="rId5"/>
                <a:stretch>
                  <a:fillRect l="-3955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C9367B-F5E1-4ED0-8C0F-6A3F3864073D}"/>
              </a:ext>
            </a:extLst>
          </p:cNvPr>
          <p:cNvCxnSpPr/>
          <p:nvPr/>
        </p:nvCxnSpPr>
        <p:spPr bwMode="auto">
          <a:xfrm>
            <a:off x="7895406" y="2149790"/>
            <a:ext cx="0" cy="3528392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26" name="Content Placeholder 7">
            <a:extLst>
              <a:ext uri="{FF2B5EF4-FFF2-40B4-BE49-F238E27FC236}">
                <a16:creationId xmlns:a16="http://schemas.microsoft.com/office/drawing/2014/main" id="{C4340EEE-C715-58C9-AFCA-3EDB194F95AA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04" t="11696" r="51620" b="7989"/>
          <a:stretch>
            <a:fillRect/>
          </a:stretch>
        </p:blipFill>
        <p:spPr bwMode="auto">
          <a:xfrm>
            <a:off x="10815554" y="116632"/>
            <a:ext cx="1368088" cy="1395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EA0ADEC-A45C-A0A0-A05D-7DCCF93C55EE}"/>
                  </a:ext>
                </a:extLst>
              </p:cNvPr>
              <p:cNvSpPr txBox="1"/>
              <p:nvPr/>
            </p:nvSpPr>
            <p:spPr>
              <a:xfrm flipH="1">
                <a:off x="622598" y="1845617"/>
                <a:ext cx="3096279" cy="19800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285750" indent="-285750" algn="l">
                  <a:spcBef>
                    <a:spcPts val="432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+mn-lt"/>
                  </a:rPr>
                  <a:t>Missing periodicity </a:t>
                </a:r>
                <a:r>
                  <a:rPr lang="en-US" dirty="0">
                    <a:latin typeface="+mn-lt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a-DK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-resolved methods invalid</a:t>
                </a:r>
              </a:p>
              <a:p>
                <a:pPr marL="285750" indent="-285750" algn="l">
                  <a:spcBef>
                    <a:spcPts val="432"/>
                  </a:spcBef>
                  <a:buFont typeface="Arial" panose="020B0604020202020204" pitchFamily="34" charset="0"/>
                  <a:buChar char="•"/>
                </a:pPr>
                <a:endParaRPr lang="en-US" dirty="0">
                  <a:latin typeface="+mn-lt"/>
                </a:endParaRPr>
              </a:p>
              <a:p>
                <a:pPr marL="285750" indent="-285750" algn="l">
                  <a:spcBef>
                    <a:spcPts val="432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+mn-lt"/>
                  </a:rPr>
                  <a:t>Local description</a:t>
                </a:r>
              </a:p>
              <a:p>
                <a:pPr marL="285750" indent="-285750" algn="l">
                  <a:spcBef>
                    <a:spcPts val="432"/>
                  </a:spcBef>
                  <a:buFont typeface="Arial" panose="020B0604020202020204" pitchFamily="34" charset="0"/>
                  <a:buChar char="•"/>
                </a:pPr>
                <a:endParaRPr lang="en-US" dirty="0">
                  <a:latin typeface="+mn-lt"/>
                </a:endParaRPr>
              </a:p>
              <a:p>
                <a:pPr marL="285750" indent="-285750" algn="l">
                  <a:spcBef>
                    <a:spcPts val="432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+mn-lt"/>
                  </a:rPr>
                  <a:t>Scalable</a:t>
                </a:r>
              </a:p>
              <a:p>
                <a:pPr marL="285750" indent="-285750" algn="l">
                  <a:spcBef>
                    <a:spcPts val="432"/>
                  </a:spcBef>
                  <a:buFont typeface="Arial" panose="020B0604020202020204" pitchFamily="34" charset="0"/>
                  <a:buChar char="•"/>
                </a:pPr>
                <a:endParaRPr lang="en-US" dirty="0" err="1">
                  <a:latin typeface="+mn-lt"/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EA0ADEC-A45C-A0A0-A05D-7DCCF93C5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22598" y="1845617"/>
                <a:ext cx="3096279" cy="1980029"/>
              </a:xfrm>
              <a:prstGeom prst="rect">
                <a:avLst/>
              </a:prstGeom>
              <a:blipFill>
                <a:blip r:embed="rId7"/>
                <a:stretch>
                  <a:fillRect l="-3740" t="-3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8579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A20AD-9109-1E0F-BB06-F52B13EE2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02E4C-577B-7687-EDEE-7B24B5058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EE9182-18C3-16E7-1F4E-55FD67D4A72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77B5D3-F113-5FA4-5077-D782EE13850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25CA8BD-D0C5-48DC-27F0-25E948B33CF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26" name="Content Placeholder 7">
            <a:extLst>
              <a:ext uri="{FF2B5EF4-FFF2-40B4-BE49-F238E27FC236}">
                <a16:creationId xmlns:a16="http://schemas.microsoft.com/office/drawing/2014/main" id="{36206093-4FC5-27AC-B3B9-95B4CE0DCC0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04" t="11696" r="51620" b="7989"/>
          <a:stretch>
            <a:fillRect/>
          </a:stretch>
        </p:blipFill>
        <p:spPr bwMode="auto">
          <a:xfrm>
            <a:off x="10815554" y="116632"/>
            <a:ext cx="1368088" cy="1395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C1AE977-B320-0ABE-D357-48D487CE8D84}"/>
                  </a:ext>
                </a:extLst>
              </p:cNvPr>
              <p:cNvSpPr txBox="1"/>
              <p:nvPr/>
            </p:nvSpPr>
            <p:spPr>
              <a:xfrm flipH="1">
                <a:off x="622597" y="1845617"/>
                <a:ext cx="3718376" cy="19800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285750" indent="-285750" algn="l">
                  <a:spcBef>
                    <a:spcPts val="432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+mn-lt"/>
                  </a:rPr>
                  <a:t>Missing periodicity </a:t>
                </a:r>
                <a:r>
                  <a:rPr lang="en-US" dirty="0">
                    <a:latin typeface="+mn-lt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a-DK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-resolved methods invalid</a:t>
                </a:r>
              </a:p>
              <a:p>
                <a:pPr marL="285750" indent="-285750" algn="l">
                  <a:spcBef>
                    <a:spcPts val="432"/>
                  </a:spcBef>
                  <a:buFont typeface="Arial" panose="020B0604020202020204" pitchFamily="34" charset="0"/>
                  <a:buChar char="•"/>
                </a:pPr>
                <a:endParaRPr lang="en-US" dirty="0">
                  <a:latin typeface="+mn-lt"/>
                </a:endParaRPr>
              </a:p>
              <a:p>
                <a:pPr marL="285750" indent="-285750" algn="l">
                  <a:spcBef>
                    <a:spcPts val="432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+mn-lt"/>
                  </a:rPr>
                  <a:t>Local description</a:t>
                </a:r>
              </a:p>
              <a:p>
                <a:pPr marL="285750" indent="-285750" algn="l">
                  <a:spcBef>
                    <a:spcPts val="432"/>
                  </a:spcBef>
                  <a:buFont typeface="Arial" panose="020B0604020202020204" pitchFamily="34" charset="0"/>
                  <a:buChar char="•"/>
                </a:pPr>
                <a:endParaRPr lang="en-US" dirty="0">
                  <a:latin typeface="+mn-lt"/>
                </a:endParaRPr>
              </a:p>
              <a:p>
                <a:pPr marL="285750" indent="-285750" algn="l">
                  <a:spcBef>
                    <a:spcPts val="432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+mn-lt"/>
                  </a:rPr>
                  <a:t>Scalable</a:t>
                </a:r>
              </a:p>
              <a:p>
                <a:pPr marL="285750" indent="-285750" algn="l">
                  <a:spcBef>
                    <a:spcPts val="432"/>
                  </a:spcBef>
                  <a:buFont typeface="Arial" panose="020B0604020202020204" pitchFamily="34" charset="0"/>
                  <a:buChar char="•"/>
                </a:pPr>
                <a:endParaRPr lang="en-US" dirty="0" err="1">
                  <a:latin typeface="+mn-lt"/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C1AE977-B320-0ABE-D357-48D487CE8D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22597" y="1845617"/>
                <a:ext cx="3718376" cy="1980029"/>
              </a:xfrm>
              <a:prstGeom prst="rect">
                <a:avLst/>
              </a:prstGeom>
              <a:blipFill>
                <a:blip r:embed="rId3"/>
                <a:stretch>
                  <a:fillRect l="-3115" t="-3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7" name="Picture 46">
            <a:extLst>
              <a:ext uri="{FF2B5EF4-FFF2-40B4-BE49-F238E27FC236}">
                <a16:creationId xmlns:a16="http://schemas.microsoft.com/office/drawing/2014/main" id="{723DC12F-4009-B572-B88D-944EBE1A8C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4846" y="3094484"/>
            <a:ext cx="3718378" cy="2245938"/>
          </a:xfrm>
          <a:prstGeom prst="rect">
            <a:avLst/>
          </a:prstGeom>
        </p:spPr>
      </p:pic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65B3FBC6-D818-4B2D-99B1-6B32FF1D5609}"/>
              </a:ext>
            </a:extLst>
          </p:cNvPr>
          <p:cNvCxnSpPr/>
          <p:nvPr/>
        </p:nvCxnSpPr>
        <p:spPr bwMode="auto">
          <a:xfrm>
            <a:off x="7103318" y="2564904"/>
            <a:ext cx="0" cy="312291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AA15616-BFAF-8497-FFF8-12118B944FEB}"/>
              </a:ext>
            </a:extLst>
          </p:cNvPr>
          <p:cNvGrpSpPr/>
          <p:nvPr/>
        </p:nvGrpSpPr>
        <p:grpSpPr>
          <a:xfrm>
            <a:off x="7639248" y="2708920"/>
            <a:ext cx="2952750" cy="2967602"/>
            <a:chOff x="7639248" y="2708920"/>
            <a:chExt cx="2952750" cy="2967602"/>
          </a:xfrm>
        </p:grpSpPr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BD6D8CE3-6C17-731D-D944-377719514B8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778" t="2777" r="19176" b="2777"/>
            <a:stretch>
              <a:fillRect/>
            </a:stretch>
          </p:blipFill>
          <p:spPr>
            <a:xfrm>
              <a:off x="7679382" y="2708920"/>
              <a:ext cx="2880321" cy="2967602"/>
            </a:xfrm>
            <a:prstGeom prst="rect">
              <a:avLst/>
            </a:prstGeom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ED6A0729-C5BE-B2F8-D616-38E27D3805A5}"/>
                </a:ext>
              </a:extLst>
            </p:cNvPr>
            <p:cNvSpPr/>
            <p:nvPr/>
          </p:nvSpPr>
          <p:spPr bwMode="auto">
            <a:xfrm>
              <a:off x="8528992" y="2738884"/>
              <a:ext cx="1181100" cy="711200"/>
            </a:xfrm>
            <a:custGeom>
              <a:avLst/>
              <a:gdLst>
                <a:gd name="csX0" fmla="*/ 0 w 1181100"/>
                <a:gd name="csY0" fmla="*/ 330200 h 711200"/>
                <a:gd name="csX1" fmla="*/ 584200 w 1181100"/>
                <a:gd name="csY1" fmla="*/ 0 h 711200"/>
                <a:gd name="csX2" fmla="*/ 1181100 w 1181100"/>
                <a:gd name="csY2" fmla="*/ 355600 h 711200"/>
                <a:gd name="csX3" fmla="*/ 584200 w 1181100"/>
                <a:gd name="csY3" fmla="*/ 711200 h 711200"/>
                <a:gd name="csX4" fmla="*/ 0 w 1181100"/>
                <a:gd name="csY4" fmla="*/ 330200 h 711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81100" h="711200">
                  <a:moveTo>
                    <a:pt x="0" y="330200"/>
                  </a:moveTo>
                  <a:lnTo>
                    <a:pt x="584200" y="0"/>
                  </a:lnTo>
                  <a:lnTo>
                    <a:pt x="1181100" y="355600"/>
                  </a:lnTo>
                  <a:lnTo>
                    <a:pt x="584200" y="711200"/>
                  </a:lnTo>
                  <a:lnTo>
                    <a:pt x="0" y="330200"/>
                  </a:lnTo>
                  <a:close/>
                </a:path>
              </a:pathLst>
            </a:custGeom>
            <a:noFill/>
            <a:ln w="38100" cap="flat" cmpd="sng" algn="ctr">
              <a:solidFill>
                <a:srgbClr val="FF0000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ts val="432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0" i="0" u="none" strike="noStrike" cap="none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latin typeface="+mn-lt"/>
                <a:ea typeface="ＭＳ Ｐゴシック" pitchFamily="-80" charset="-128"/>
              </a:endParaRPr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3B498A4-B5E7-A41B-B0E8-A4614FF2DEF2}"/>
                </a:ext>
              </a:extLst>
            </p:cNvPr>
            <p:cNvSpPr/>
            <p:nvPr/>
          </p:nvSpPr>
          <p:spPr bwMode="auto">
            <a:xfrm>
              <a:off x="7639248" y="3937000"/>
              <a:ext cx="2952750" cy="1720850"/>
            </a:xfrm>
            <a:custGeom>
              <a:avLst/>
              <a:gdLst>
                <a:gd name="csX0" fmla="*/ 0 w 2952750"/>
                <a:gd name="csY0" fmla="*/ 857250 h 1720850"/>
                <a:gd name="csX1" fmla="*/ 1466850 w 2952750"/>
                <a:gd name="csY1" fmla="*/ 0 h 1720850"/>
                <a:gd name="csX2" fmla="*/ 2952750 w 2952750"/>
                <a:gd name="csY2" fmla="*/ 863600 h 1720850"/>
                <a:gd name="csX3" fmla="*/ 1466850 w 2952750"/>
                <a:gd name="csY3" fmla="*/ 1720850 h 1720850"/>
                <a:gd name="csX4" fmla="*/ 0 w 2952750"/>
                <a:gd name="csY4" fmla="*/ 857250 h 17208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952750" h="1720850">
                  <a:moveTo>
                    <a:pt x="0" y="857250"/>
                  </a:moveTo>
                  <a:lnTo>
                    <a:pt x="1466850" y="0"/>
                  </a:lnTo>
                  <a:lnTo>
                    <a:pt x="2952750" y="863600"/>
                  </a:lnTo>
                  <a:lnTo>
                    <a:pt x="1466850" y="1720850"/>
                  </a:lnTo>
                  <a:lnTo>
                    <a:pt x="0" y="857250"/>
                  </a:lnTo>
                  <a:close/>
                </a:path>
              </a:pathLst>
            </a:custGeom>
            <a:noFill/>
            <a:ln w="38100" cap="flat" cmpd="sng" algn="ctr">
              <a:solidFill>
                <a:srgbClr val="FF0000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ts val="432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0" i="0" u="none" strike="noStrike" cap="none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latin typeface="+mn-lt"/>
                <a:ea typeface="ＭＳ Ｐゴシック" pitchFamily="-80" charset="-128"/>
              </a:endParaRPr>
            </a:p>
          </p:txBody>
        </p:sp>
        <p:sp>
          <p:nvSpPr>
            <p:cNvPr id="52" name="Arrow: Down 51">
              <a:extLst>
                <a:ext uri="{FF2B5EF4-FFF2-40B4-BE49-F238E27FC236}">
                  <a16:creationId xmlns:a16="http://schemas.microsoft.com/office/drawing/2014/main" id="{EFE13D3D-D6C0-A038-6EA3-DB661E6710CA}"/>
                </a:ext>
              </a:extLst>
            </p:cNvPr>
            <p:cNvSpPr/>
            <p:nvPr/>
          </p:nvSpPr>
          <p:spPr bwMode="auto">
            <a:xfrm>
              <a:off x="9039844" y="3569008"/>
              <a:ext cx="151557" cy="267342"/>
            </a:xfrm>
            <a:prstGeom prst="downArrow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ts val="432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0" i="0" u="none" strike="noStrike" cap="none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latin typeface="+mn-lt"/>
                <a:ea typeface="ＭＳ Ｐゴシック" pitchFamily="-80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88913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85281-16F3-39A1-944F-FFDCF7515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 edge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1C2B4-E510-1AD6-EF84-61D7603D58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DF6078-440E-0692-E48E-87B08993FD2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73CA59-B9EA-3FCB-73A5-586A953445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B5D5B03-B69E-0250-49B1-2F2136D40BE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80093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8A0FA-DC5B-517F-78E1-9F28239BF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Investigate self-energies, z-GNR – onsite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78B962-DA23-BA80-8CB1-E7EF7ECFCF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473252-3235-09C7-15D5-2937E84EEC3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76EFF73-CAE3-2418-D2D6-DBF088ACC64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9" name="Picture 2" descr="0">
            <a:extLst>
              <a:ext uri="{FF2B5EF4-FFF2-40B4-BE49-F238E27FC236}">
                <a16:creationId xmlns:a16="http://schemas.microsoft.com/office/drawing/2014/main" id="{7EDF7058-F745-9621-B365-656E75386FE2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00" y="3284984"/>
            <a:ext cx="5864369" cy="2498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0">
            <a:extLst>
              <a:ext uri="{FF2B5EF4-FFF2-40B4-BE49-F238E27FC236}">
                <a16:creationId xmlns:a16="http://schemas.microsoft.com/office/drawing/2014/main" id="{1C66D9A4-49D0-3836-21ED-E00BF3AAB7F6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7472" y="3284984"/>
            <a:ext cx="5969947" cy="2498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9AE0D87-8720-2CCE-82DF-8A3044183BFF}"/>
              </a:ext>
            </a:extLst>
          </p:cNvPr>
          <p:cNvSpPr txBox="1"/>
          <p:nvPr/>
        </p:nvSpPr>
        <p:spPr>
          <a:xfrm flipH="1">
            <a:off x="1558767" y="2420888"/>
            <a:ext cx="100804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dirty="0">
                <a:latin typeface="+mn-lt"/>
              </a:rPr>
              <a:t>N=9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60D8DB-E78D-8A4B-6107-3CB0F4170FCA}"/>
              </a:ext>
            </a:extLst>
          </p:cNvPr>
          <p:cNvSpPr txBox="1"/>
          <p:nvPr/>
        </p:nvSpPr>
        <p:spPr>
          <a:xfrm flipH="1">
            <a:off x="7835376" y="2420887"/>
            <a:ext cx="100804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dirty="0">
                <a:latin typeface="+mn-lt"/>
              </a:rPr>
              <a:t>N=21</a:t>
            </a:r>
          </a:p>
        </p:txBody>
      </p:sp>
    </p:spTree>
    <p:extLst>
      <p:ext uri="{BB962C8B-B14F-4D97-AF65-F5344CB8AC3E}">
        <p14:creationId xmlns:p14="http://schemas.microsoft.com/office/powerpoint/2010/main" val="16882019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EBD48-5F5D-AF9F-BFBF-E4B7134A3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542" y="1340768"/>
            <a:ext cx="3888432" cy="97271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C7BFD2-F29F-0F23-2C2D-56A69A6BFE8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C881EA-6A9E-7C8F-5EA0-90283A91928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B0C040-3215-9785-BE17-31095B5491E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B00EDB6-4D44-F818-94D9-C0DF4A37B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3158" y="2175588"/>
            <a:ext cx="5423942" cy="4365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7993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F38F-A083-9A70-30CF-B09654F4E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55898" y="1628800"/>
            <a:ext cx="4559846" cy="972716"/>
          </a:xfrm>
        </p:spPr>
        <p:txBody>
          <a:bodyPr/>
          <a:lstStyle/>
          <a:p>
            <a:r>
              <a:rPr lang="en-US" dirty="0"/>
              <a:t>Armchair, </a:t>
            </a:r>
            <a:r>
              <a:rPr lang="en-US" i="1" dirty="0"/>
              <a:t>N</a:t>
            </a:r>
            <a:r>
              <a:rPr lang="en-US" dirty="0"/>
              <a:t>=12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725C6-82F3-693F-3387-34307E6E086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95F16E-B6FB-D34E-871C-95E4DE2661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40E0E82-D593-5129-A5D4-2A9EF26E39E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5113F71-1D7F-464E-1F06-60123755E4E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912485"/>
            <a:ext cx="7107214" cy="2516515"/>
          </a:xfrm>
          <a:prstGeom prst="rect">
            <a:avLst/>
          </a:prstGeom>
        </p:spPr>
      </p:pic>
      <p:pic>
        <p:nvPicPr>
          <p:cNvPr id="9" name="Content Placeholder 9">
            <a:extLst>
              <a:ext uri="{FF2B5EF4-FFF2-40B4-BE49-F238E27FC236}">
                <a16:creationId xmlns:a16="http://schemas.microsoft.com/office/drawing/2014/main" id="{8079E864-3725-1751-C318-FA90030BFED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43669" y="3802430"/>
            <a:ext cx="7846744" cy="273877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886F1E7D-A67C-F465-75B4-2698634F83BE}"/>
              </a:ext>
            </a:extLst>
          </p:cNvPr>
          <p:cNvSpPr txBox="1">
            <a:spLocks/>
          </p:cNvSpPr>
          <p:nvPr/>
        </p:nvSpPr>
        <p:spPr bwMode="auto">
          <a:xfrm>
            <a:off x="478582" y="4895411"/>
            <a:ext cx="4559846" cy="972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kern="0" dirty="0"/>
              <a:t>Zig-zag, </a:t>
            </a:r>
            <a:r>
              <a:rPr lang="en-US" i="1" kern="0" dirty="0"/>
              <a:t>N</a:t>
            </a:r>
            <a:r>
              <a:rPr lang="en-US" kern="0" dirty="0"/>
              <a:t>=12*2</a:t>
            </a:r>
          </a:p>
        </p:txBody>
      </p:sp>
    </p:spTree>
    <p:extLst>
      <p:ext uri="{BB962C8B-B14F-4D97-AF65-F5344CB8AC3E}">
        <p14:creationId xmlns:p14="http://schemas.microsoft.com/office/powerpoint/2010/main" val="30742601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6D249320-8405-7C5B-DDBC-737010A8C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7" name="Content Placeholder 7">
            <a:extLst>
              <a:ext uri="{FF2B5EF4-FFF2-40B4-BE49-F238E27FC236}">
                <a16:creationId xmlns:a16="http://schemas.microsoft.com/office/drawing/2014/main" id="{00FB7112-E9AA-9509-D808-581AAB3B730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478582" y="1972247"/>
            <a:ext cx="5562302" cy="3673574"/>
          </a:xfrm>
          <a:prstGeom prst="rect">
            <a:avLst/>
          </a:prstGeom>
        </p:spPr>
      </p:pic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855CD8B0-9E8A-162E-6F47-2CD26FD9D76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B11C88-4B22-A158-7391-65FFAD805F4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10BAC-AA28-4553-3D19-8F816393BF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FA045D-8B0C-D7FB-A2CE-313740C95B8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98BD46-CE5B-E654-861D-8098FB0983EB}"/>
              </a:ext>
            </a:extLst>
          </p:cNvPr>
          <p:cNvSpPr txBox="1"/>
          <p:nvPr/>
        </p:nvSpPr>
        <p:spPr>
          <a:xfrm>
            <a:off x="1774726" y="1556792"/>
            <a:ext cx="2160240" cy="43204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endParaRPr lang="en-US" dirty="0" err="1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136988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0C5F2135-E886-726D-37A2-5569EBDC2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extrapolate:</a:t>
            </a:r>
            <a:br>
              <a:rPr lang="en-US" dirty="0"/>
            </a:br>
            <a:r>
              <a:rPr lang="en-US" dirty="0"/>
              <a:t>k-NN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9C82E8-0D0A-E42B-CF07-9C6AC48AE1E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F0B9FF-A9E5-5018-2286-B105A48E23B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AC3AB88-2553-C553-23E2-DD21783D48E7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7" name="Content Placeholder 7">
            <a:extLst>
              <a:ext uri="{FF2B5EF4-FFF2-40B4-BE49-F238E27FC236}">
                <a16:creationId xmlns:a16="http://schemas.microsoft.com/office/drawing/2014/main" id="{D84FA644-C5B1-D8C2-BFF2-D8AA41F4F01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2"/>
          <a:srcRect t="-1" b="-1264"/>
          <a:stretch>
            <a:fillRect/>
          </a:stretch>
        </p:blipFill>
        <p:spPr bwMode="auto">
          <a:xfrm>
            <a:off x="8117049" y="3508935"/>
            <a:ext cx="3859213" cy="28803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" name="Picture Placeholder 20">
            <a:extLst>
              <a:ext uri="{FF2B5EF4-FFF2-40B4-BE49-F238E27FC236}">
                <a16:creationId xmlns:a16="http://schemas.microsoft.com/office/drawing/2014/main" id="{15CE63BC-1D2B-EFA6-6835-8C13395483D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l="-1488" t="1097" r="49766" b="-1097"/>
          <a:stretch>
            <a:fillRect/>
          </a:stretch>
        </p:blipFill>
        <p:spPr bwMode="auto">
          <a:xfrm>
            <a:off x="8687494" y="426127"/>
            <a:ext cx="2880320" cy="304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" name="Content Placeholder 12">
            <a:extLst>
              <a:ext uri="{FF2B5EF4-FFF2-40B4-BE49-F238E27FC236}">
                <a16:creationId xmlns:a16="http://schemas.microsoft.com/office/drawing/2014/main" id="{D0BE97E4-9420-4523-7CAF-F9FCCD9A9A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7" r="2487"/>
          <a:stretch/>
        </p:blipFill>
        <p:spPr bwMode="auto">
          <a:xfrm>
            <a:off x="622599" y="2132856"/>
            <a:ext cx="6048375" cy="3928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" name="Arrow: Bent 22">
            <a:extLst>
              <a:ext uri="{FF2B5EF4-FFF2-40B4-BE49-F238E27FC236}">
                <a16:creationId xmlns:a16="http://schemas.microsoft.com/office/drawing/2014/main" id="{39FE243E-1199-B095-0A91-DA95D2D19D07}"/>
              </a:ext>
            </a:extLst>
          </p:cNvPr>
          <p:cNvSpPr/>
          <p:nvPr/>
        </p:nvSpPr>
        <p:spPr bwMode="auto">
          <a:xfrm rot="10800000">
            <a:off x="7319046" y="2780928"/>
            <a:ext cx="936400" cy="576063"/>
          </a:xfrm>
          <a:prstGeom prst="bentArrow">
            <a:avLst>
              <a:gd name="adj1" fmla="val 15973"/>
              <a:gd name="adj2" fmla="val 21051"/>
              <a:gd name="adj3" fmla="val 46439"/>
              <a:gd name="adj4" fmla="val 21183"/>
            </a:avLst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E07A56-C50B-B5D4-B94D-1C0EBAC6E22C}"/>
              </a:ext>
            </a:extLst>
          </p:cNvPr>
          <p:cNvSpPr txBox="1"/>
          <p:nvPr/>
        </p:nvSpPr>
        <p:spPr>
          <a:xfrm>
            <a:off x="8255446" y="2393293"/>
            <a:ext cx="403200" cy="316800"/>
          </a:xfrm>
          <a:prstGeom prst="rect">
            <a:avLst/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a-DK"/>
            </a:defPPr>
            <a:lvl1pPr marL="0" marR="0" indent="0" algn="ctr" defTabSz="914400" eaLnBrk="1" latinLnBrk="0" hangingPunct="1">
              <a:lnSpc>
                <a:spcPct val="100000"/>
              </a:lnSpc>
              <a:spcBef>
                <a:spcPts val="432"/>
              </a:spcBef>
              <a:buClrTx/>
              <a:buSzTx/>
              <a:buFontTx/>
              <a:buNone/>
              <a:tabLst/>
              <a:defRPr kumimoji="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Verdana" pitchFamily="34" charset="0"/>
                <a:ea typeface="ＭＳ Ｐゴシック" pitchFamily="-80" charset="-128"/>
              </a:defRPr>
            </a:lvl1pPr>
            <a:lvl2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dirty="0"/>
              <a:t>1.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89E18C6-FDCD-9B0A-5CE3-0401B3DC37E6}"/>
              </a:ext>
            </a:extLst>
          </p:cNvPr>
          <p:cNvSpPr txBox="1"/>
          <p:nvPr/>
        </p:nvSpPr>
        <p:spPr>
          <a:xfrm>
            <a:off x="7902898" y="3429000"/>
            <a:ext cx="428302" cy="316800"/>
          </a:xfrm>
          <a:prstGeom prst="rect">
            <a:avLst/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a-DK"/>
            </a:defPPr>
            <a:lvl1pPr marL="0" marR="0" indent="0" algn="ctr" defTabSz="914400" eaLnBrk="1" latinLnBrk="0" hangingPunct="1">
              <a:lnSpc>
                <a:spcPct val="100000"/>
              </a:lnSpc>
              <a:spcBef>
                <a:spcPts val="432"/>
              </a:spcBef>
              <a:buClrTx/>
              <a:buSzTx/>
              <a:buFontTx/>
              <a:buNone/>
              <a:tabLst/>
              <a:defRPr kumimoji="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Verdana" pitchFamily="34" charset="0"/>
                <a:ea typeface="ＭＳ Ｐゴシック" pitchFamily="-80" charset="-128"/>
              </a:defRPr>
            </a:lvl1pPr>
            <a:lvl2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dirty="0"/>
              <a:t>2.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F8AE9D9-F041-113C-8455-0A8A216E3044}"/>
              </a:ext>
            </a:extLst>
          </p:cNvPr>
          <p:cNvSpPr txBox="1"/>
          <p:nvPr/>
        </p:nvSpPr>
        <p:spPr>
          <a:xfrm>
            <a:off x="6746728" y="2206293"/>
            <a:ext cx="428598" cy="316800"/>
          </a:xfrm>
          <a:prstGeom prst="rect">
            <a:avLst/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a-DK"/>
            </a:defPPr>
            <a:lvl1pPr marL="0" marR="0" indent="0" algn="ctr" defTabSz="914400" eaLnBrk="1" latinLnBrk="0" hangingPunct="1">
              <a:lnSpc>
                <a:spcPct val="100000"/>
              </a:lnSpc>
              <a:spcBef>
                <a:spcPts val="432"/>
              </a:spcBef>
              <a:buClrTx/>
              <a:buSzTx/>
              <a:buFontTx/>
              <a:buNone/>
              <a:tabLst/>
              <a:defRPr kumimoji="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ea typeface="ＭＳ Ｐゴシック" pitchFamily="-80" charset="-128"/>
              </a:defRPr>
            </a:lvl1pPr>
            <a:lvl2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dirty="0"/>
              <a:t>3.</a:t>
            </a:r>
          </a:p>
        </p:txBody>
      </p:sp>
    </p:spTree>
    <p:extLst>
      <p:ext uri="{BB962C8B-B14F-4D97-AF65-F5344CB8AC3E}">
        <p14:creationId xmlns:p14="http://schemas.microsoft.com/office/powerpoint/2010/main" val="2469966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DD1267F-7F05-55CD-3973-B6AE9746C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9534E6E-7932-25B6-FD58-075CDB88E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extrapolate:</a:t>
            </a:r>
            <a:br>
              <a:rPr lang="en-US" dirty="0"/>
            </a:br>
            <a:r>
              <a:rPr lang="en-US" dirty="0"/>
              <a:t>k-NN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3BFAA2-51AD-DEC5-4F54-9402419651B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196CC9-F33E-3BE2-E5B7-265D3A50001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0A01872-B7B7-912F-5E3E-8816084AD6A6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9" name="Content Placeholder 12">
            <a:extLst>
              <a:ext uri="{FF2B5EF4-FFF2-40B4-BE49-F238E27FC236}">
                <a16:creationId xmlns:a16="http://schemas.microsoft.com/office/drawing/2014/main" id="{900C229F-6939-622D-FE96-2482D7C0DB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7" r="2487"/>
          <a:stretch/>
        </p:blipFill>
        <p:spPr bwMode="auto">
          <a:xfrm>
            <a:off x="622599" y="2132856"/>
            <a:ext cx="6048375" cy="3928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9F6D4079-49C8-F8F3-924A-CD1DBEA66A8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pPr algn="l"/>
            <a:r>
              <a:rPr lang="en-US" dirty="0"/>
              <a:t>Pit-falls:</a:t>
            </a:r>
            <a:endParaRPr lang="en-US" dirty="0">
              <a:sym typeface="Wingdings" panose="05000000000000000000" pitchFamily="2" charset="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dirty="0"/>
              <a:t>Number of equivalent pairs scale (sort of) linearly </a:t>
            </a:r>
            <a:r>
              <a:rPr lang="en-US" dirty="0">
                <a:sym typeface="Wingdings" panose="05000000000000000000" pitchFamily="2" charset="2"/>
              </a:rPr>
              <a:t> overweight of corner-neighboring pairs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dirty="0"/>
              <a:t>4-atom corners occupy more space </a:t>
            </a:r>
            <a:r>
              <a:rPr lang="en-US" dirty="0">
                <a:sym typeface="Wingdings" panose="05000000000000000000" pitchFamily="2" charset="2"/>
              </a:rPr>
              <a:t> more edge pairs for this region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1C88CD-2282-306D-8B1E-9E7A1F00793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9D76F0D-37E2-8AF3-6BD7-12F94DFE5C40}"/>
              </a:ext>
            </a:extLst>
          </p:cNvPr>
          <p:cNvCxnSpPr/>
          <p:nvPr/>
        </p:nvCxnSpPr>
        <p:spPr bwMode="auto">
          <a:xfrm>
            <a:off x="1355240" y="4221088"/>
            <a:ext cx="1427598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1B7DA9E-4E5E-D8AB-4913-A1C7A8D360D4}"/>
              </a:ext>
            </a:extLst>
          </p:cNvPr>
          <p:cNvCxnSpPr/>
          <p:nvPr/>
        </p:nvCxnSpPr>
        <p:spPr bwMode="auto">
          <a:xfrm>
            <a:off x="2864098" y="4190022"/>
            <a:ext cx="422796" cy="24709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8654631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6E884-C6AB-30FD-C4BF-4C3DF3C9B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0FE57-6131-4F12-203A-F754D93730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824BF3-88B5-757F-B9BB-E6D168CB671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C3A0549-390B-D061-E5CD-47047B35A2A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356757-1DA5-437F-6123-0C8A56AE2B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74543C-2894-244F-24C5-AD0C42B611A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60E947D9-B4E6-F3FE-AD9F-8D6BBBA94B7E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3107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41C88-EE43-D40D-CA12-2994A72B8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Extrapolation</a:t>
            </a:r>
            <a:endParaRPr lang="da-DK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694FC054-ACAC-17FF-DB4F-3C7B7CD9989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414686" y="2924944"/>
            <a:ext cx="4410075" cy="311855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B5FB1ED-71BE-6D35-A153-691BC4DAF44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 bwMode="auto">
          <a:xfrm>
            <a:off x="8147738" y="1398843"/>
            <a:ext cx="3575012" cy="4546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86DCEA-BD3A-93D2-8EDD-9850D566A31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BE7F5-F27B-90CC-4C29-A6F9DF538F1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344174-83B8-7305-3339-9924124454A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4D792E-7D15-BE25-A7DF-66303694477C}"/>
              </a:ext>
            </a:extLst>
          </p:cNvPr>
          <p:cNvSpPr txBox="1"/>
          <p:nvPr/>
        </p:nvSpPr>
        <p:spPr>
          <a:xfrm>
            <a:off x="8971641" y="912485"/>
            <a:ext cx="144022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da-DK" dirty="0">
                <a:latin typeface="+mn-lt"/>
              </a:rPr>
              <a:t>Using NC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A8E0A6-E2A0-10CC-0269-13FC6E0A1298}"/>
              </a:ext>
            </a:extLst>
          </p:cNvPr>
          <p:cNvSpPr txBox="1"/>
          <p:nvPr/>
        </p:nvSpPr>
        <p:spPr>
          <a:xfrm>
            <a:off x="1545085" y="1988840"/>
            <a:ext cx="4010014" cy="54373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da-DK" dirty="0" err="1">
                <a:latin typeface="+mn-lt"/>
              </a:rPr>
              <a:t>kNN</a:t>
            </a:r>
            <a:r>
              <a:rPr lang="da-DK" dirty="0">
                <a:latin typeface="+mn-lt"/>
              </a:rPr>
              <a:t>: </a:t>
            </a:r>
            <a:r>
              <a:rPr lang="da-DK" dirty="0" err="1">
                <a:latin typeface="+mn-lt"/>
              </a:rPr>
              <a:t>Finding</a:t>
            </a:r>
            <a:r>
              <a:rPr lang="da-DK" dirty="0">
                <a:latin typeface="+mn-lt"/>
              </a:rPr>
              <a:t> </a:t>
            </a:r>
            <a:r>
              <a:rPr lang="da-DK" dirty="0" err="1">
                <a:latin typeface="+mn-lt"/>
              </a:rPr>
              <a:t>equivalent</a:t>
            </a:r>
            <a:r>
              <a:rPr lang="da-DK" dirty="0">
                <a:latin typeface="+mn-lt"/>
              </a:rPr>
              <a:t> </a:t>
            </a:r>
            <a:r>
              <a:rPr lang="da-DK" dirty="0" err="1">
                <a:latin typeface="+mn-lt"/>
              </a:rPr>
              <a:t>centroids</a:t>
            </a:r>
            <a:endParaRPr lang="da-DK" dirty="0">
              <a:latin typeface="+mn-lt"/>
            </a:endParaRP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da-DK" dirty="0">
                <a:latin typeface="+mn-lt"/>
              </a:rPr>
              <a:t>In practice: </a:t>
            </a:r>
            <a:r>
              <a:rPr lang="da-DK" dirty="0" err="1">
                <a:latin typeface="+mn-lt"/>
              </a:rPr>
              <a:t>only</a:t>
            </a:r>
            <a:r>
              <a:rPr lang="da-DK" dirty="0">
                <a:latin typeface="+mn-lt"/>
              </a:rPr>
              <a:t> </a:t>
            </a:r>
            <a:r>
              <a:rPr lang="da-DK" dirty="0" err="1">
                <a:latin typeface="+mn-lt"/>
              </a:rPr>
              <a:t>one</a:t>
            </a:r>
            <a:r>
              <a:rPr lang="da-DK" dirty="0">
                <a:latin typeface="+mn-lt"/>
              </a:rPr>
              <a:t> </a:t>
            </a:r>
            <a:r>
              <a:rPr lang="da-DK" dirty="0" err="1">
                <a:latin typeface="+mn-lt"/>
              </a:rPr>
              <a:t>edge</a:t>
            </a:r>
            <a:r>
              <a:rPr lang="da-DK" dirty="0">
                <a:latin typeface="+mn-lt"/>
              </a:rPr>
              <a:t> at a time</a:t>
            </a:r>
          </a:p>
        </p:txBody>
      </p:sp>
    </p:spTree>
    <p:extLst>
      <p:ext uri="{BB962C8B-B14F-4D97-AF65-F5344CB8AC3E}">
        <p14:creationId xmlns:p14="http://schemas.microsoft.com/office/powerpoint/2010/main" val="24209285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8BF9C-AF28-35C5-4296-A31EBD8E6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Adaptive </a:t>
            </a:r>
            <a:r>
              <a:rPr lang="en-US" dirty="0" err="1"/>
              <a:t>kNN</a:t>
            </a:r>
            <a:r>
              <a:rPr lang="en-US" dirty="0"/>
              <a:t> for reduced corner-edge pair influence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CA5C2A9-BF3C-1249-E1AA-2032E0858E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14287" t="13143" r="10711" b="13638"/>
          <a:stretch>
            <a:fillRect/>
          </a:stretch>
        </p:blipFill>
        <p:spPr bwMode="auto">
          <a:xfrm>
            <a:off x="406574" y="1628800"/>
            <a:ext cx="6563224" cy="4271304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2ACDD2-10FE-2183-51A8-DB43B1FE003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708970-D1AB-D116-C600-75A4487E7A3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1A21B963-7E9A-74CB-41AB-D0E4FC6EAFFC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581A152C-6A67-1BC4-4194-A0D9880A2F73}"/>
              </a:ext>
            </a:extLst>
          </p:cNvPr>
          <p:cNvSpPr/>
          <p:nvPr/>
        </p:nvSpPr>
        <p:spPr bwMode="auto">
          <a:xfrm rot="18095783">
            <a:off x="2923291" y="4171908"/>
            <a:ext cx="145171" cy="1273239"/>
          </a:xfrm>
          <a:prstGeom prst="rightBrace">
            <a:avLst>
              <a:gd name="adj1" fmla="val 39418"/>
              <a:gd name="adj2" fmla="val 43830"/>
            </a:avLst>
          </a:prstGeom>
          <a:noFill/>
          <a:ln w="1905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AEC244-BD84-393F-411C-4FADA120F34B}"/>
              </a:ext>
            </a:extLst>
          </p:cNvPr>
          <p:cNvCxnSpPr>
            <a:stCxn id="11" idx="1"/>
          </p:cNvCxnSpPr>
          <p:nvPr/>
        </p:nvCxnSpPr>
        <p:spPr bwMode="auto">
          <a:xfrm flipV="1">
            <a:off x="2966993" y="4437112"/>
            <a:ext cx="175885" cy="26843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7" name="Right Brace 16">
            <a:extLst>
              <a:ext uri="{FF2B5EF4-FFF2-40B4-BE49-F238E27FC236}">
                <a16:creationId xmlns:a16="http://schemas.microsoft.com/office/drawing/2014/main" id="{FBDABC65-B888-136A-6AA9-B52821ED6EEC}"/>
              </a:ext>
            </a:extLst>
          </p:cNvPr>
          <p:cNvSpPr/>
          <p:nvPr/>
        </p:nvSpPr>
        <p:spPr bwMode="auto">
          <a:xfrm rot="18095783">
            <a:off x="1715035" y="3468665"/>
            <a:ext cx="96169" cy="1215465"/>
          </a:xfrm>
          <a:prstGeom prst="rightBrace">
            <a:avLst>
              <a:gd name="adj1" fmla="val 39418"/>
              <a:gd name="adj2" fmla="val 77242"/>
            </a:avLst>
          </a:prstGeom>
          <a:noFill/>
          <a:ln w="1905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A405748-5E43-8948-32D9-5333DBA31ED0}"/>
              </a:ext>
            </a:extLst>
          </p:cNvPr>
          <p:cNvCxnSpPr>
            <a:cxnSpLocks/>
            <a:stCxn id="17" idx="1"/>
          </p:cNvCxnSpPr>
          <p:nvPr/>
        </p:nvCxnSpPr>
        <p:spPr bwMode="auto">
          <a:xfrm flipV="1">
            <a:off x="2070344" y="4040395"/>
            <a:ext cx="712494" cy="168529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23" name="Content Placeholder 10">
            <a:extLst>
              <a:ext uri="{FF2B5EF4-FFF2-40B4-BE49-F238E27FC236}">
                <a16:creationId xmlns:a16="http://schemas.microsoft.com/office/drawing/2014/main" id="{49B553EC-1C86-974B-19E9-451C5681B5D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95" b="-2742"/>
          <a:stretch>
            <a:fillRect/>
          </a:stretch>
        </p:blipFill>
        <p:spPr bwMode="auto">
          <a:xfrm>
            <a:off x="7871299" y="2281519"/>
            <a:ext cx="3859213" cy="287102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287877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C4E5CC6-B95F-1F6D-50CA-728F59E6BC5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DFT</a:t>
            </a:r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5C625CD1-CCB0-D4D2-2CB5-EB5E071D7D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dirty="0"/>
              <a:t>DOS +  </a:t>
            </a:r>
            <a:r>
              <a:rPr lang="da-DK" dirty="0" err="1"/>
              <a:t>bandpath</a:t>
            </a:r>
            <a:endParaRPr lang="da-DK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15D971-AB26-9AB7-BE8B-4479EC7E4EF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F3D8BC-2FEA-CA85-2F68-2DFBEEEF03E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20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0584D8E-40B1-2040-F1C4-2E97028400C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2042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4DEFA-1EF4-4FD5-624D-9EC1A48F4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AA </a:t>
            </a:r>
            <a:r>
              <a:rPr lang="da-DK" dirty="0" err="1"/>
              <a:t>stacking</a:t>
            </a:r>
            <a:r>
              <a:rPr lang="da-DK" dirty="0"/>
              <a:t>, 4 atoms/UC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361FB1B1-D895-BB8F-F132-FC41368B7D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774825" y="1713847"/>
            <a:ext cx="6048375" cy="4530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5636B40B-2FF0-11C4-12F1-AA283C91F34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6908" b="6908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57311947-120D-7BE9-3A83-22CAE8732B8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37" b="1753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62E464-9ECC-AF7A-A417-CD1674BE9CA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C84B91-D457-AF80-839F-F822476E4D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21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245C6C2-1DD8-C6FF-9934-EF24CB29464F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89980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8887500-F9B5-3322-31E2-9446E4213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F3EE-2A84-CCCA-4A86-AB4378CCF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AB </a:t>
            </a:r>
            <a:r>
              <a:rPr lang="da-DK" dirty="0" err="1"/>
              <a:t>stacking</a:t>
            </a:r>
            <a:r>
              <a:rPr lang="da-DK" dirty="0"/>
              <a:t>, 4 atoms/UC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4AA8E55B-8945-37A1-38B8-D4A39D935D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774825" y="1713847"/>
            <a:ext cx="6048375" cy="4530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AA0BA03C-61D6-8761-2C98-C2B568AEC75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75" b="6675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6B642822-6AC5-858B-4C25-829F75C229B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37" b="1753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6B2594-1641-D495-62B1-82EF71D2CF4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CD5D4E-C311-3241-EC1F-A0499A05ADD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22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FF7EC0BC-87ED-7F7C-8305-AB1171784A23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80465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84C3C0-9468-BC8E-3CA7-F97A48708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FE462-76D5-8D28-2D9C-7650532EB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AA </a:t>
            </a:r>
            <a:r>
              <a:rPr lang="da-DK" dirty="0" err="1"/>
              <a:t>stacking</a:t>
            </a:r>
            <a:r>
              <a:rPr lang="da-DK" dirty="0"/>
              <a:t>, 16 atoms/UC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1F3CF181-BAA2-D0EE-4B49-4010F0060A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774825" y="1713847"/>
            <a:ext cx="6048375" cy="4530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18EDFECA-9361-2ABE-3B95-2DFD0901E0F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49" b="7349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F38681AE-A0B3-1E19-F819-EFAF499711A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37" b="1753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A3A67F-43F2-CFA4-6F24-D4C725CFBCD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991668-B251-4869-16CA-8AB27A36A38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23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18C18B1D-E132-27B2-BB09-7A18CE12EECE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3819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E09C534-D1D5-37DE-5A20-ACB6EAD26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1612C-29F3-12D5-59A0-0C152E6C0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AA </a:t>
            </a:r>
            <a:r>
              <a:rPr lang="da-DK" dirty="0" err="1"/>
              <a:t>stacking</a:t>
            </a:r>
            <a:r>
              <a:rPr lang="da-DK" dirty="0"/>
              <a:t>, 16 atoms/UC Vs. 4 atoms/UC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FCC3EF-1F90-0770-435D-1D6E2D5B91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dirty="0"/>
              <a:t>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50D42B-7E39-A7EA-7091-72E3D928F7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1C1B7A35-FCA3-9D84-C6FC-7380DBC2246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1" name="Content Placeholder 15">
            <a:extLst>
              <a:ext uri="{FF2B5EF4-FFF2-40B4-BE49-F238E27FC236}">
                <a16:creationId xmlns:a16="http://schemas.microsoft.com/office/drawing/2014/main" id="{89C76A46-80A9-7359-35E8-1B0907658AE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774825" y="2320402"/>
            <a:ext cx="4410075" cy="33189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Content Placeholder 15">
            <a:extLst>
              <a:ext uri="{FF2B5EF4-FFF2-40B4-BE49-F238E27FC236}">
                <a16:creationId xmlns:a16="http://schemas.microsoft.com/office/drawing/2014/main" id="{FAB1FFEF-0ECF-E86B-4C71-E65BDE8EA8C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 bwMode="auto">
          <a:xfrm>
            <a:off x="6678613" y="2328808"/>
            <a:ext cx="4408487" cy="3302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194857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F63EE3F-DF04-5436-1CBE-FDFC6A09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78222-5379-95D2-CDC6-572F0AB31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AB </a:t>
            </a:r>
            <a:r>
              <a:rPr lang="da-DK" dirty="0" err="1"/>
              <a:t>stacking</a:t>
            </a:r>
            <a:r>
              <a:rPr lang="da-DK" dirty="0"/>
              <a:t>, 16 atoms/UC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1E9591-F5C5-D1EC-CC50-74C8F4F5EE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774825" y="1713847"/>
            <a:ext cx="6048375" cy="4530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B770C9AC-B959-1A1E-31AF-D93AA733D75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42" b="7842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446119F0-6C11-D107-47DB-F86D7991625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37" b="1753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E9DA01-22A9-8608-D611-67242CC696C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14C89B-81C3-0C56-9783-D28F644EDDA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6295F5D-2FB8-4CB3-AFFE-2A818DCA0C2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32698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386CC3E-B06F-4C6C-1B61-5DEFD728B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303C6-F3F5-A34C-528F-288F976F7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AA </a:t>
            </a:r>
            <a:r>
              <a:rPr lang="da-DK" dirty="0" err="1"/>
              <a:t>stacking</a:t>
            </a:r>
            <a:r>
              <a:rPr lang="da-DK" dirty="0"/>
              <a:t>, 32 atoms/UC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45D1E663-B6F9-B40F-67EE-A10BE08BD8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774825" y="1713847"/>
            <a:ext cx="6048375" cy="4530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FBB60E81-B987-583C-214B-5C72D4AF30A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7" b="781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9D315BFC-9665-205A-1E45-6569AA93B01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37" b="1753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154577-179F-7757-B352-C26D2D21AD0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357A25-4D06-1710-A0A3-ED7E15E4A28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C7A61A1-9AAD-AADF-60C0-2EAF2EA5BDBE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01446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307D72B-13A8-EC8F-E57E-A8147273E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F63FC-7C93-BF65-3468-10230312C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AB </a:t>
            </a:r>
            <a:r>
              <a:rPr lang="da-DK" dirty="0" err="1"/>
              <a:t>stacking</a:t>
            </a:r>
            <a:r>
              <a:rPr lang="da-DK" dirty="0"/>
              <a:t>, 32 atoms/UC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D4898161-B4F6-CF59-08D9-697CD1AFBD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774825" y="1713847"/>
            <a:ext cx="6048375" cy="4530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5EC1DB55-6DDE-5BCD-5078-DCF1793E2B2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05" b="7905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57BB8CDD-D81F-5994-77F8-6CB59ECFC5C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37" b="1753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961B59-7DB0-C266-33C2-4EFC516C9A5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9DAFA0-8A17-5587-BAD7-8023B8FD4C4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29C139E-146A-2D0E-A359-3E856FC7EB4B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345440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DNEW" val="Fals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heme/theme1.xml><?xml version="1.0" encoding="utf-8"?>
<a:theme xmlns:a="http://schemas.openxmlformats.org/drawingml/2006/main" name="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9525" cap="flat" cmpd="sng" algn="ctr">
          <a:solidFill>
            <a:schemeClr val="bg2"/>
          </a:solidFill>
          <a:prstDash val="solid"/>
          <a:miter lim="800000"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Template 16_9 - Purple-ENG.potx" id="{ACB4F171-8EB6-42FF-A886-8AC5C6E12EF9}" vid="{0B6811EE-F439-40C6-B36C-C65F443AAD1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item1.xml><?xml version="1.0" encoding="utf-8"?>
<TemplafySlideTemplateConfiguration><![CDATA[{"elementsMetadata":[],"documentContentValidatorConfiguration":{"enableDocumentContentValidator":false,"documentContentValidatorVersion":0},"slideId":"636957682264213454","enableDocumentContentUpdater":true,"version":"1.2"}]]></TemplafySlideTemplateConfiguration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FormConfiguration><![CDATA[{"formFields":[{"required":false,"type":"datePicker","name":"Date","label":"Date","helpTexts":{"prefix":"","postfix":""},"spacing":{},"fullyQualifiedName":"Date"},{"required":false,"placeholder":"","lines":0,"type":"textBox","name":"PresentationTitle","label":"Presentation title","helpTexts":{"prefix":"","postfix":""},"spacing":{},"fullyQualifiedName":"PresentationTitle"}],"formDataEntries":[]}]]></TemplafyFormConfiguration>
</file>

<file path=customXml/item5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6.xml><?xml version="1.0" encoding="utf-8"?>
<TemplafySlideFormConfiguration><![CDATA[{"formFields":[],"formDataEntries":[]}]]></TemplafySlideFormConfiguration>
</file>

<file path=customXml/item7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8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DA1FD2B40FDA458284BB6FCA763489" ma:contentTypeVersion="5" ma:contentTypeDescription="Create a new document." ma:contentTypeScope="" ma:versionID="72b2569ebc96083092f6d8e76413cd52">
  <xsd:schema xmlns:xsd="http://www.w3.org/2001/XMLSchema" xmlns:xs="http://www.w3.org/2001/XMLSchema" xmlns:p="http://schemas.microsoft.com/office/2006/metadata/properties" xmlns:ns2="683dcda1-f8c3-442f-ae64-e236c052732d" xmlns:ns3="715bde23-c48d-41ea-a697-dffaa8fbae8d" targetNamespace="http://schemas.microsoft.com/office/2006/metadata/properties" ma:root="true" ma:fieldsID="df14c340b530a7b5c38005fefa6a5693" ns2:_="" ns3:_="">
    <xsd:import namespace="683dcda1-f8c3-442f-ae64-e236c052732d"/>
    <xsd:import namespace="715bde23-c48d-41ea-a697-dffaa8fbae8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3dcda1-f8c3-442f-ae64-e236c05273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5bde23-c48d-41ea-a697-dffaa8fbae8d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9.xml><?xml version="1.0" encoding="utf-8"?>
<TemplafyTemplateConfiguration><![CDATA[{"elementsMetadata":[],"transformationConfigurations":[{"language":"{{DocumentLanguage}}","disableUpdates":false,"type":"proofingLanguage"}],"templateName":"DTU Template 16_9 - Purple","templateDescription":"","enableDocumentContentUpdater":true,"version":"1.2"}]]></TemplafyTemplateConfiguration>
</file>

<file path=customXml/item10.xml><?xml version="1.0" encoding="utf-8"?>
<TemplafySlideTemplateConfiguration><![CDATA[{"elementsMetadata":[],"documentContentValidatorConfiguration":{"enableDocumentContentValidator":false,"documentContentValidatorVersion":0},"slideId":"636957682264057965","enableDocumentContentUpdater":true,"version":"1.2"}]]></TemplafySlideTemplateConfiguration>
</file>

<file path=customXml/item11.xml><?xml version="1.0" encoding="utf-8"?>
<TemplafySlideTemplateConfiguration><![CDATA[{"elementsMetadata":[],"documentContentValidatorConfiguration":{"enableDocumentContentValidator":false,"documentContentValidatorVersion":0},"slideId":"636957682264370159","enableDocumentContentUpdater":true,"version":"1.2"}]]></TemplafySlideTemplateConfiguration>
</file>

<file path=customXml/itemProps1.xml><?xml version="1.0" encoding="utf-8"?>
<ds:datastoreItem xmlns:ds="http://schemas.openxmlformats.org/officeDocument/2006/customXml" ds:itemID="{B30A78E7-315B-4170-8116-72928D1FEAD9}">
  <ds:schemaRefs/>
</ds:datastoreItem>
</file>

<file path=customXml/itemProps2.xml><?xml version="1.0" encoding="utf-8"?>
<ds:datastoreItem xmlns:ds="http://schemas.openxmlformats.org/officeDocument/2006/customXml" ds:itemID="{E618FA3B-8A67-40AE-8AE5-229504AB69D3}">
  <ds:schemaRefs/>
</ds:datastoreItem>
</file>

<file path=customXml/itemProps3.xml><?xml version="1.0" encoding="utf-8"?>
<ds:datastoreItem xmlns:ds="http://schemas.openxmlformats.org/officeDocument/2006/customXml" ds:itemID="{A24B75EB-8202-4907-9D1E-5F9CF0C29483}">
  <ds:schemaRefs/>
</ds:datastoreItem>
</file>

<file path=customXml/itemProps4.xml><?xml version="1.0" encoding="utf-8"?>
<ds:datastoreItem xmlns:ds="http://schemas.openxmlformats.org/officeDocument/2006/customXml" ds:itemID="{69ED2CA6-29BB-4407-9012-18ED2ECCD16E}">
  <ds:schemaRefs/>
</ds:datastoreItem>
</file>

<file path=customXml/itemProps5.xml><?xml version="1.0" encoding="utf-8"?>
<ds:datastoreItem xmlns:ds="http://schemas.openxmlformats.org/officeDocument/2006/customXml" ds:itemID="{C7696DC1-7A22-4198-A4D1-783EAEBC6DD4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6.xml><?xml version="1.0" encoding="utf-8"?>
<ds:datastoreItem xmlns:ds="http://schemas.openxmlformats.org/officeDocument/2006/customXml" ds:itemID="{403BE795-51D5-47B5-B747-A10BFE22AFA8}">
  <ds:schemaRefs/>
</ds:datastoreItem>
</file>

<file path=customXml/itemProps7.xml><?xml version="1.0" encoding="utf-8"?>
<ds:datastoreItem xmlns:ds="http://schemas.openxmlformats.org/officeDocument/2006/customXml" ds:itemID="{3FAD9687-A325-465A-822F-98C7D264CFD7}">
  <ds:schemaRefs>
    <ds:schemaRef ds:uri="http://schemas.microsoft.com/sharepoint/v3/contenttype/forms"/>
  </ds:schemaRefs>
</ds:datastoreItem>
</file>

<file path=customXml/itemProps8.xml><?xml version="1.0" encoding="utf-8"?>
<ds:datastoreItem xmlns:ds="http://schemas.openxmlformats.org/officeDocument/2006/customXml" ds:itemID="{9F0C0281-0754-4C07-B1CB-D9771AB751D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83dcda1-f8c3-442f-ae64-e236c052732d"/>
    <ds:schemaRef ds:uri="715bde23-c48d-41ea-a697-dffaa8fbae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9.xml><?xml version="1.0" encoding="utf-8"?>
<ds:datastoreItem xmlns:ds="http://schemas.openxmlformats.org/officeDocument/2006/customXml" ds:itemID="{1334258C-C3E7-4029-A615-C886A240FB15}">
  <ds:schemaRefs/>
</ds:datastoreItem>
</file>

<file path=customXml/itemProps10.xml><?xml version="1.0" encoding="utf-8"?>
<ds:datastoreItem xmlns:ds="http://schemas.openxmlformats.org/officeDocument/2006/customXml" ds:itemID="{ECA1DA60-FB17-4EB5-97F4-62F99A1A733D}">
  <ds:schemaRefs/>
</ds:datastoreItem>
</file>

<file path=customXml/itemProps11.xml><?xml version="1.0" encoding="utf-8"?>
<ds:datastoreItem xmlns:ds="http://schemas.openxmlformats.org/officeDocument/2006/customXml" ds:itemID="{3DB14396-8B0C-45B4-9B8F-11E9F605DE89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DTU Template 16_9 - Purple-ENG</Template>
  <TotalTime>2699</TotalTime>
  <Words>429</Words>
  <Application>Microsoft Office PowerPoint</Application>
  <PresentationFormat>Custom</PresentationFormat>
  <Paragraphs>164</Paragraphs>
  <Slides>27</Slides>
  <Notes>1</Notes>
  <HiddenSlides>9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Arial</vt:lpstr>
      <vt:lpstr>Cambria Math</vt:lpstr>
      <vt:lpstr>Courier New</vt:lpstr>
      <vt:lpstr>Verdana</vt:lpstr>
      <vt:lpstr>Wingdings</vt:lpstr>
      <vt:lpstr>Blank</vt:lpstr>
      <vt:lpstr>PowerPoint Presentation</vt:lpstr>
      <vt:lpstr>Green’s function method for inter-layer tunneling between two-dimensional materials</vt:lpstr>
      <vt:lpstr>General idea</vt:lpstr>
      <vt:lpstr>Motivation</vt:lpstr>
      <vt:lpstr>What is QTM?</vt:lpstr>
      <vt:lpstr>What is QTM?</vt:lpstr>
      <vt:lpstr>What is QTM?</vt:lpstr>
      <vt:lpstr>Motivation</vt:lpstr>
      <vt:lpstr>Motivation</vt:lpstr>
      <vt:lpstr>Base edge</vt:lpstr>
      <vt:lpstr>Investigate self-energies, z-GNR – onsite</vt:lpstr>
      <vt:lpstr>PowerPoint Presentation</vt:lpstr>
      <vt:lpstr>Armchair, N=12</vt:lpstr>
      <vt:lpstr>PowerPoint Presentation</vt:lpstr>
      <vt:lpstr>Naïve extrapolate: k-NN</vt:lpstr>
      <vt:lpstr>Naïve extrapolate: k-NN</vt:lpstr>
      <vt:lpstr>PowerPoint Presentation</vt:lpstr>
      <vt:lpstr>Extrapolation</vt:lpstr>
      <vt:lpstr>Adaptive kNN for reduced corner-edge pair influence</vt:lpstr>
      <vt:lpstr>DFT</vt:lpstr>
      <vt:lpstr>AA stacking, 4 atoms/UC</vt:lpstr>
      <vt:lpstr>AB stacking, 4 atoms/UC</vt:lpstr>
      <vt:lpstr>AA stacking, 16 atoms/UC</vt:lpstr>
      <vt:lpstr>AA stacking, 16 atoms/UC Vs. 4 atoms/UC</vt:lpstr>
      <vt:lpstr>AB stacking, 16 atoms/UC</vt:lpstr>
      <vt:lpstr>AA stacking, 32 atoms/UC</vt:lpstr>
      <vt:lpstr>AB stacking, 32 atoms/UC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Bastian Valhøj Kristensen</dc:creator>
  <cp:lastModifiedBy>Bastian Valhøj Kristensen</cp:lastModifiedBy>
  <cp:revision>20</cp:revision>
  <dcterms:created xsi:type="dcterms:W3CDTF">2026-04-08T09:55:39Z</dcterms:created>
  <dcterms:modified xsi:type="dcterms:W3CDTF">2026-06-29T16:33:43Z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dIsCodeFreeTemplate">
    <vt:lpwstr>True</vt:lpwstr>
  </property>
  <property fmtid="{D5CDD505-2E9C-101B-9397-08002B2CF9AE}" pid="3" name="TemplafyTimeStamp">
    <vt:lpwstr>2019-06-10T12:57:05.6036816Z</vt:lpwstr>
  </property>
  <property fmtid="{D5CDD505-2E9C-101B-9397-08002B2CF9AE}" pid="4" name="ContentTypeId">
    <vt:lpwstr>0x0101009ADA1FD2B40FDA458284BB6FCA763489</vt:lpwstr>
  </property>
</Properties>
</file>