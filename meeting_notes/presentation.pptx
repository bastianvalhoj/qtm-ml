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90" r:id="rId4"/>
    <p:sldId id="258" r:id="rId5"/>
    <p:sldId id="292" r:id="rId6"/>
    <p:sldId id="293" r:id="rId7"/>
    <p:sldId id="295" r:id="rId8"/>
    <p:sldId id="297" r:id="rId9"/>
    <p:sldId id="296" r:id="rId10"/>
    <p:sldId id="298" r:id="rId11"/>
    <p:sldId id="299" r:id="rId12"/>
    <p:sldId id="300" r:id="rId13"/>
    <p:sldId id="265" r:id="rId14"/>
    <p:sldId id="270" r:id="rId15"/>
    <p:sldId id="303" r:id="rId16"/>
    <p:sldId id="304" r:id="rId17"/>
    <p:sldId id="301" r:id="rId18"/>
    <p:sldId id="302" r:id="rId19"/>
    <p:sldId id="305" r:id="rId20"/>
    <p:sldId id="284" r:id="rId21"/>
    <p:sldId id="291" r:id="rId22"/>
    <p:sldId id="288" r:id="rId23"/>
    <p:sldId id="289" r:id="rId24"/>
    <p:sldId id="308" r:id="rId25"/>
    <p:sldId id="310" r:id="rId26"/>
    <p:sldId id="309" r:id="rId27"/>
    <p:sldId id="311" r:id="rId28"/>
    <p:sldId id="312" r:id="rId29"/>
    <p:sldId id="313" r:id="rId30"/>
    <p:sldId id="282" r:id="rId31"/>
    <p:sldId id="277" r:id="rId32"/>
    <p:sldId id="283" r:id="rId33"/>
    <p:sldId id="278" r:id="rId34"/>
    <p:sldId id="280" r:id="rId35"/>
    <p:sldId id="279" r:id="rId36"/>
    <p:sldId id="281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145" d="100"/>
          <a:sy n="145" d="100"/>
        </p:scale>
        <p:origin x="2244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bastian-explore-rse.streamlit.app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marL="0" lvl="0" indent="0">
              <a:buNone/>
            </a:pPr>
            <a:r>
              <a:t>Results for RSE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marL="0" lvl="0" indent="0">
              <a:buNone/>
            </a:pPr>
            <a:br/>
            <a:br/>
            <a:r>
              <a:t>Bastian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March 9.,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Primitive unitcell tiling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For interactive plot: </a:t>
            </a:r>
            <a:r>
              <a:rPr>
                <a:hlinkClick r:id="rId2"/>
              </a:rPr>
              <a:t>bastian-explore-rse.streamlit.app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63F3B-6BEB-D82A-1F4C-172651A70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95" y="96789"/>
            <a:ext cx="3869703" cy="1143000"/>
          </a:xfrm>
        </p:spPr>
        <p:txBody>
          <a:bodyPr/>
          <a:lstStyle/>
          <a:p>
            <a:r>
              <a:rPr lang="en-US" dirty="0"/>
              <a:t>Performance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F678BA-A7DB-02AE-44FB-9BCDE3510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045" y="1110268"/>
            <a:ext cx="5747201" cy="5739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662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702E7-0814-97CC-5AAA-C756B3346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(</a:t>
            </a:r>
            <a:r>
              <a:rPr lang="en-US" dirty="0" err="1"/>
              <a:t>romb</a:t>
            </a:r>
            <a:r>
              <a:rPr lang="en-US" dirty="0"/>
              <a:t>), Increasing eta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31E74C-F5D3-C601-3558-B4E1990CF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E=0 eV, eta=10</a:t>
            </a:r>
            <a:r>
              <a:rPr lang="en-US" baseline="30000" dirty="0"/>
              <a:t>-1</a:t>
            </a:r>
            <a:r>
              <a:rPr lang="en-US" dirty="0"/>
              <a:t>, NN=2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1562E6A-1925-0D87-854D-F65FCD37C91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0" y="2306166"/>
            <a:ext cx="9146530" cy="3896671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469C602-6024-6716-3551-B4DFAA4E5C24}"/>
              </a:ext>
            </a:extLst>
          </p:cNvPr>
          <p:cNvSpPr txBox="1">
            <a:spLocks/>
          </p:cNvSpPr>
          <p:nvPr/>
        </p:nvSpPr>
        <p:spPr>
          <a:xfrm>
            <a:off x="4497388" y="1535113"/>
            <a:ext cx="4040188" cy="639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N=9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9E536-7C75-895B-0262-7E3B7CCB9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000E2-A30D-E0C6-8C05-F44AE4E05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(</a:t>
            </a:r>
            <a:r>
              <a:rPr lang="en-US" dirty="0" err="1"/>
              <a:t>romb</a:t>
            </a:r>
            <a:r>
              <a:rPr lang="en-US" dirty="0"/>
              <a:t>), Increasing eta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1105FB-AD39-67D2-6F22-B3549E3533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E=0 eV, eta=10</a:t>
            </a:r>
            <a:r>
              <a:rPr lang="en-US" baseline="30000" dirty="0"/>
              <a:t>-3</a:t>
            </a:r>
            <a:r>
              <a:rPr lang="en-US" dirty="0"/>
              <a:t>, NN=2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7E2A6B2-B441-0EEF-C2EC-A53F8448368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0" y="2306166"/>
            <a:ext cx="9146530" cy="3896671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6263127-4EFC-A7DC-6395-8CB4BE7C45D9}"/>
              </a:ext>
            </a:extLst>
          </p:cNvPr>
          <p:cNvSpPr txBox="1">
            <a:spLocks/>
          </p:cNvSpPr>
          <p:nvPr/>
        </p:nvSpPr>
        <p:spPr>
          <a:xfrm>
            <a:off x="4497388" y="1535113"/>
            <a:ext cx="4040188" cy="639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N=9</a:t>
            </a:r>
          </a:p>
        </p:txBody>
      </p:sp>
    </p:spTree>
    <p:extLst>
      <p:ext uri="{BB962C8B-B14F-4D97-AF65-F5344CB8AC3E}">
        <p14:creationId xmlns:p14="http://schemas.microsoft.com/office/powerpoint/2010/main" val="1903089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15C13-EE14-52E5-0A7A-476F0D7EF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35E66-F0A8-148D-0311-8EB9EE8B6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(</a:t>
            </a:r>
            <a:r>
              <a:rPr lang="en-US" dirty="0" err="1"/>
              <a:t>romb</a:t>
            </a:r>
            <a:r>
              <a:rPr lang="en-US" dirty="0"/>
              <a:t>), Increasing eta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2E127-3CFA-3C2C-2BE9-5541431B1E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E=0 eV, eta=10</a:t>
            </a:r>
            <a:r>
              <a:rPr lang="en-US" baseline="30000" dirty="0"/>
              <a:t>-4</a:t>
            </a:r>
            <a:r>
              <a:rPr lang="en-US" dirty="0"/>
              <a:t>, NN=2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BC3D1B8-52F3-357C-44BB-13CA528971C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0" y="2306166"/>
            <a:ext cx="9146530" cy="3896671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744BE98-160A-9C51-2B1B-F5A1F49ABB57}"/>
              </a:ext>
            </a:extLst>
          </p:cNvPr>
          <p:cNvSpPr txBox="1">
            <a:spLocks/>
          </p:cNvSpPr>
          <p:nvPr/>
        </p:nvSpPr>
        <p:spPr>
          <a:xfrm>
            <a:off x="4497388" y="1535113"/>
            <a:ext cx="4040188" cy="639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N=9</a:t>
            </a:r>
          </a:p>
        </p:txBody>
      </p:sp>
    </p:spTree>
    <p:extLst>
      <p:ext uri="{BB962C8B-B14F-4D97-AF65-F5344CB8AC3E}">
        <p14:creationId xmlns:p14="http://schemas.microsoft.com/office/powerpoint/2010/main" val="4113906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9C8F8-BACA-9A49-515C-43B61DF36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4F33D-ED4F-C6D7-018D-C2D8DD401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(</a:t>
            </a:r>
            <a:r>
              <a:rPr lang="en-US" dirty="0" err="1"/>
              <a:t>romb</a:t>
            </a:r>
            <a:r>
              <a:rPr lang="en-US" dirty="0"/>
              <a:t>), Increasing eta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6E197C-BAD2-C53A-5704-119037155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E=0 eV, eta=10</a:t>
            </a:r>
            <a:r>
              <a:rPr lang="en-US" baseline="30000" dirty="0"/>
              <a:t>-5</a:t>
            </a:r>
            <a:r>
              <a:rPr lang="en-US" dirty="0"/>
              <a:t>, NN=2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CD2ED13-A7AC-0C5F-77FA-E33F42A6923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0" y="2306166"/>
            <a:ext cx="9146530" cy="3896671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2695D06-FFED-6D35-DB9C-2BFAE0E9EBBA}"/>
              </a:ext>
            </a:extLst>
          </p:cNvPr>
          <p:cNvSpPr txBox="1">
            <a:spLocks/>
          </p:cNvSpPr>
          <p:nvPr/>
        </p:nvSpPr>
        <p:spPr>
          <a:xfrm>
            <a:off x="4497388" y="1535113"/>
            <a:ext cx="4040188" cy="639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N=9</a:t>
            </a:r>
          </a:p>
        </p:txBody>
      </p:sp>
    </p:spTree>
    <p:extLst>
      <p:ext uri="{BB962C8B-B14F-4D97-AF65-F5344CB8AC3E}">
        <p14:creationId xmlns:p14="http://schemas.microsoft.com/office/powerpoint/2010/main" val="2039690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46189-BC8B-550A-4211-4D337C2AA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6">
                <a:extLst>
                  <a:ext uri="{FF2B5EF4-FFF2-40B4-BE49-F238E27FC236}">
                    <a16:creationId xmlns:a16="http://schemas.microsoft.com/office/drawing/2014/main" id="{D42C4DBF-0738-4CA2-DFB3-FAFC84899B9B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/>
            <p:txBody>
              <a:bodyPr>
                <a:normAutofit/>
              </a:bodyPr>
              <a:lstStyle/>
              <a:p>
                <a:pPr/>
                <a:r>
                  <a:rPr lang="en-US" dirty="0"/>
                  <a:t>Larger structure and constant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itle 6">
                <a:extLst>
                  <a:ext uri="{FF2B5EF4-FFF2-40B4-BE49-F238E27FC236}">
                    <a16:creationId xmlns:a16="http://schemas.microsoft.com/office/drawing/2014/main" id="{D42C4DBF-0738-4CA2-DFB3-FAFC84899B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blipFill>
                <a:blip r:embed="rId2"/>
                <a:stretch>
                  <a:fillRect t="-7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ubtitle 7">
            <a:extLst>
              <a:ext uri="{FF2B5EF4-FFF2-40B4-BE49-F238E27FC236}">
                <a16:creationId xmlns:a16="http://schemas.microsoft.com/office/drawing/2014/main" id="{AF16F265-5069-74BC-7451-F3A0A7603C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757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2CD4E-6754-D554-B766-3C1ECC26E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67B54-6CDE-F70F-8C20-DF028F931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(</a:t>
            </a:r>
            <a:r>
              <a:rPr lang="en-US" dirty="0" err="1"/>
              <a:t>romb</a:t>
            </a:r>
            <a:r>
              <a:rPr lang="en-US" dirty="0"/>
              <a:t>), Increasing 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18A88C-E528-E3F1-A955-4708F9EC6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E=0 eV, eta=10</a:t>
            </a:r>
            <a:r>
              <a:rPr lang="en-US" baseline="30000" dirty="0"/>
              <a:t>-5</a:t>
            </a:r>
            <a:r>
              <a:rPr lang="en-US" dirty="0"/>
              <a:t>, NN=2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0BAC3C2-560D-6C29-33FB-09AA620093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0" y="2306166"/>
            <a:ext cx="9146530" cy="3896671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E9F3485-DDFD-2DFF-59BD-92B0F20A9B78}"/>
              </a:ext>
            </a:extLst>
          </p:cNvPr>
          <p:cNvSpPr txBox="1">
            <a:spLocks/>
          </p:cNvSpPr>
          <p:nvPr/>
        </p:nvSpPr>
        <p:spPr>
          <a:xfrm>
            <a:off x="4497388" y="1535113"/>
            <a:ext cx="4040188" cy="639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N=9</a:t>
            </a:r>
          </a:p>
        </p:txBody>
      </p:sp>
    </p:spTree>
    <p:extLst>
      <p:ext uri="{BB962C8B-B14F-4D97-AF65-F5344CB8AC3E}">
        <p14:creationId xmlns:p14="http://schemas.microsoft.com/office/powerpoint/2010/main" val="2800543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F5DBD-9FD3-F64A-EFD1-6EFA6484C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DCF15-9B6E-513C-B8CF-B16E66D76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(</a:t>
            </a:r>
            <a:r>
              <a:rPr lang="en-US" dirty="0" err="1"/>
              <a:t>romb</a:t>
            </a:r>
            <a:r>
              <a:rPr lang="en-US" dirty="0"/>
              <a:t>), Increasing 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812B5E-FBFC-7D21-7D42-CA91AF1914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E=0 eV, eta=10</a:t>
            </a:r>
            <a:r>
              <a:rPr lang="en-US" baseline="30000" dirty="0"/>
              <a:t>-5</a:t>
            </a:r>
            <a:r>
              <a:rPr lang="en-US" dirty="0"/>
              <a:t>, NN=2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E0BB18B-1D07-CEC2-270D-264EC1C50C9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0" y="2306166"/>
            <a:ext cx="9146530" cy="3896671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5917381-DB79-9CA7-DF05-4113D893AA6F}"/>
              </a:ext>
            </a:extLst>
          </p:cNvPr>
          <p:cNvSpPr txBox="1">
            <a:spLocks/>
          </p:cNvSpPr>
          <p:nvPr/>
        </p:nvSpPr>
        <p:spPr>
          <a:xfrm>
            <a:off x="4497388" y="1535113"/>
            <a:ext cx="4040188" cy="639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N=13</a:t>
            </a:r>
          </a:p>
        </p:txBody>
      </p:sp>
    </p:spTree>
    <p:extLst>
      <p:ext uri="{BB962C8B-B14F-4D97-AF65-F5344CB8AC3E}">
        <p14:creationId xmlns:p14="http://schemas.microsoft.com/office/powerpoint/2010/main" val="2125461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6512F-07F4-311C-546A-07DADD2C7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674C3-40B0-EA77-FA25-C0163F0AF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(</a:t>
            </a:r>
            <a:r>
              <a:rPr lang="en-US" dirty="0" err="1"/>
              <a:t>romb</a:t>
            </a:r>
            <a:r>
              <a:rPr lang="en-US" dirty="0"/>
              <a:t>), Increasing 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73CF5F-25B6-14A5-B397-8B49AF159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E=0 eV, eta=10</a:t>
            </a:r>
            <a:r>
              <a:rPr lang="en-US" baseline="30000" dirty="0"/>
              <a:t>-5</a:t>
            </a:r>
            <a:r>
              <a:rPr lang="en-US" dirty="0"/>
              <a:t>, NN=4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3F427CA-3170-1B6D-4966-82D025A5924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0" y="2306166"/>
            <a:ext cx="9146530" cy="3896671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8969154-D35C-AD78-04F5-DFEDAC865449}"/>
              </a:ext>
            </a:extLst>
          </p:cNvPr>
          <p:cNvSpPr txBox="1">
            <a:spLocks/>
          </p:cNvSpPr>
          <p:nvPr/>
        </p:nvSpPr>
        <p:spPr>
          <a:xfrm>
            <a:off x="4497388" y="1535113"/>
            <a:ext cx="4040188" cy="639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N=17</a:t>
            </a:r>
          </a:p>
        </p:txBody>
      </p:sp>
    </p:spTree>
    <p:extLst>
      <p:ext uri="{BB962C8B-B14F-4D97-AF65-F5344CB8AC3E}">
        <p14:creationId xmlns:p14="http://schemas.microsoft.com/office/powerpoint/2010/main" val="3919770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4C6E4-EA1E-97AF-9AB2-34CED874B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F6561-93FF-DC17-86E6-CA21AC03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(</a:t>
            </a:r>
            <a:r>
              <a:rPr lang="en-US" dirty="0" err="1"/>
              <a:t>romb</a:t>
            </a:r>
            <a:r>
              <a:rPr lang="en-US" dirty="0"/>
              <a:t>), Increasing 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7BBD46-4D67-D0D3-56F6-12FC464AB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E=0 eV, eta=10</a:t>
            </a:r>
            <a:r>
              <a:rPr lang="en-US" baseline="30000" dirty="0"/>
              <a:t>-5</a:t>
            </a:r>
            <a:r>
              <a:rPr lang="en-US" dirty="0"/>
              <a:t>, NN=4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0CBFDC4-0537-EF69-E8CB-8CEC0E8F559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0" y="2306166"/>
            <a:ext cx="9146530" cy="3896671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2058F0D-BA44-0D0D-CF21-421AA6966E4F}"/>
              </a:ext>
            </a:extLst>
          </p:cNvPr>
          <p:cNvSpPr txBox="1">
            <a:spLocks/>
          </p:cNvSpPr>
          <p:nvPr/>
        </p:nvSpPr>
        <p:spPr>
          <a:xfrm>
            <a:off x="4497388" y="1535113"/>
            <a:ext cx="4040188" cy="639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N=21</a:t>
            </a:r>
          </a:p>
        </p:txBody>
      </p:sp>
    </p:spTree>
    <p:extLst>
      <p:ext uri="{BB962C8B-B14F-4D97-AF65-F5344CB8AC3E}">
        <p14:creationId xmlns:p14="http://schemas.microsoft.com/office/powerpoint/2010/main" val="1003413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6">
                <a:extLst>
                  <a:ext uri="{FF2B5EF4-FFF2-40B4-BE49-F238E27FC236}">
                    <a16:creationId xmlns:a16="http://schemas.microsoft.com/office/drawing/2014/main" id="{401325A6-31AA-EC4D-C081-5A4E53CC7349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/>
            <p:txBody>
              <a:bodyPr/>
              <a:lstStyle/>
              <a:p>
                <a:pPr/>
                <a:r>
                  <a:rPr lang="en-US" dirty="0"/>
                  <a:t>Energy offset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sup>
                      </m:sSup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=21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itle 6">
                <a:extLst>
                  <a:ext uri="{FF2B5EF4-FFF2-40B4-BE49-F238E27FC236}">
                    <a16:creationId xmlns:a16="http://schemas.microsoft.com/office/drawing/2014/main" id="{401325A6-31AA-EC4D-C081-5A4E53CC73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blipFill>
                <a:blip r:embed="rId2"/>
                <a:stretch>
                  <a:fillRect t="-7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ubtitle 7">
            <a:extLst>
              <a:ext uri="{FF2B5EF4-FFF2-40B4-BE49-F238E27FC236}">
                <a16:creationId xmlns:a16="http://schemas.microsoft.com/office/drawing/2014/main" id="{395EDDC9-0583-6394-E60F-979B0C68E5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249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767C8-12A0-3762-3406-AF721F32E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4FE21-0E45-8CE0-F690-7A1443557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 offset (</a:t>
            </a:r>
            <a:r>
              <a:rPr lang="en-US" dirty="0" err="1"/>
              <a:t>romb</a:t>
            </a:r>
            <a:r>
              <a:rPr lang="en-US" dirty="0"/>
              <a:t>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6D5BAB-EA79-E356-9255-906077BC5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E=0 eV, eta=10</a:t>
            </a:r>
            <a:r>
              <a:rPr lang="en-US" baseline="30000" dirty="0"/>
              <a:t>-5</a:t>
            </a:r>
            <a:r>
              <a:rPr lang="en-US" dirty="0"/>
              <a:t>, NN=4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2734971-FB96-9CAB-8C4D-2375EBBAB01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0" y="2306166"/>
            <a:ext cx="9146530" cy="3896671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18AAE1D-5245-5C4F-7996-52449963BC31}"/>
              </a:ext>
            </a:extLst>
          </p:cNvPr>
          <p:cNvSpPr txBox="1">
            <a:spLocks/>
          </p:cNvSpPr>
          <p:nvPr/>
        </p:nvSpPr>
        <p:spPr>
          <a:xfrm>
            <a:off x="4497388" y="1535113"/>
            <a:ext cx="4040188" cy="639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N=21</a:t>
            </a:r>
          </a:p>
        </p:txBody>
      </p:sp>
    </p:spTree>
    <p:extLst>
      <p:ext uri="{BB962C8B-B14F-4D97-AF65-F5344CB8AC3E}">
        <p14:creationId xmlns:p14="http://schemas.microsoft.com/office/powerpoint/2010/main" val="1450797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DC7BB-102D-3C36-6BDE-3B3399F31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D9668-E1BD-B35C-BF77-8A8B1EB61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 offset (</a:t>
            </a:r>
            <a:r>
              <a:rPr lang="en-US" dirty="0" err="1"/>
              <a:t>romb</a:t>
            </a:r>
            <a:r>
              <a:rPr lang="en-US" dirty="0"/>
              <a:t>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E3D7F0-F6A8-8EF8-18A6-25EF9EDA4F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E=-0.1 eV, eta=10</a:t>
            </a:r>
            <a:r>
              <a:rPr lang="en-US" baseline="30000" dirty="0"/>
              <a:t>-5</a:t>
            </a:r>
            <a:r>
              <a:rPr lang="en-US" dirty="0"/>
              <a:t>, NN=4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37F15C7-E3FC-614A-F349-5C27EECBCD5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0" y="2306166"/>
            <a:ext cx="9146530" cy="3896671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A25748D-A563-F57E-7E9D-E7A7B6AC1BC7}"/>
              </a:ext>
            </a:extLst>
          </p:cNvPr>
          <p:cNvSpPr txBox="1">
            <a:spLocks/>
          </p:cNvSpPr>
          <p:nvPr/>
        </p:nvSpPr>
        <p:spPr>
          <a:xfrm>
            <a:off x="4497388" y="1535113"/>
            <a:ext cx="4040188" cy="639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N=21</a:t>
            </a:r>
          </a:p>
        </p:txBody>
      </p:sp>
    </p:spTree>
    <p:extLst>
      <p:ext uri="{BB962C8B-B14F-4D97-AF65-F5344CB8AC3E}">
        <p14:creationId xmlns:p14="http://schemas.microsoft.com/office/powerpoint/2010/main" val="3509040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B8192-B0D8-F215-BA80-CC247370A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507E9-EC9B-36B9-EE5E-A5EE43B5B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 offset (</a:t>
            </a:r>
            <a:r>
              <a:rPr lang="en-US" dirty="0" err="1"/>
              <a:t>romb</a:t>
            </a:r>
            <a:r>
              <a:rPr lang="en-US" dirty="0"/>
              <a:t>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C08E42-2611-BAAF-6734-9F7B7B517A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E=-0.2 eV, eta=10</a:t>
            </a:r>
            <a:r>
              <a:rPr lang="en-US" baseline="30000" dirty="0"/>
              <a:t>-5</a:t>
            </a:r>
            <a:r>
              <a:rPr lang="en-US" dirty="0"/>
              <a:t>, NN=4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3E0FD9C-50CB-DB40-DFE7-F85F8BF5799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0" y="2306166"/>
            <a:ext cx="9146530" cy="3896671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BC34AB-0A8B-F37E-0372-D3A50F85D3CB}"/>
              </a:ext>
            </a:extLst>
          </p:cNvPr>
          <p:cNvSpPr txBox="1">
            <a:spLocks/>
          </p:cNvSpPr>
          <p:nvPr/>
        </p:nvSpPr>
        <p:spPr>
          <a:xfrm>
            <a:off x="4497388" y="1535113"/>
            <a:ext cx="4040188" cy="639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N=21</a:t>
            </a:r>
          </a:p>
        </p:txBody>
      </p:sp>
    </p:spTree>
    <p:extLst>
      <p:ext uri="{BB962C8B-B14F-4D97-AF65-F5344CB8AC3E}">
        <p14:creationId xmlns:p14="http://schemas.microsoft.com/office/powerpoint/2010/main" val="1759428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234CB-74B3-8ED8-CCAB-46A2387D7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36EB6-938E-FC18-EE13-B330A7717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 offset (</a:t>
            </a:r>
            <a:r>
              <a:rPr lang="en-US" dirty="0" err="1"/>
              <a:t>romb</a:t>
            </a:r>
            <a:r>
              <a:rPr lang="en-US" dirty="0"/>
              <a:t>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ABF242-0C66-98B4-07D8-030DD406C1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E=-0.3 eV, eta=10</a:t>
            </a:r>
            <a:r>
              <a:rPr lang="en-US" baseline="30000" dirty="0"/>
              <a:t>-5</a:t>
            </a:r>
            <a:r>
              <a:rPr lang="en-US" dirty="0"/>
              <a:t>, NN=4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61B81EA-3EE2-AA57-5F6E-E614A0A5178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0" y="2306166"/>
            <a:ext cx="9146530" cy="3896671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EF4D610-70D8-6BAE-BB5F-62FCF7A94401}"/>
              </a:ext>
            </a:extLst>
          </p:cNvPr>
          <p:cNvSpPr txBox="1">
            <a:spLocks/>
          </p:cNvSpPr>
          <p:nvPr/>
        </p:nvSpPr>
        <p:spPr>
          <a:xfrm>
            <a:off x="4497388" y="1535113"/>
            <a:ext cx="4040188" cy="639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N=21</a:t>
            </a:r>
          </a:p>
        </p:txBody>
      </p:sp>
    </p:spTree>
    <p:extLst>
      <p:ext uri="{BB962C8B-B14F-4D97-AF65-F5344CB8AC3E}">
        <p14:creationId xmlns:p14="http://schemas.microsoft.com/office/powerpoint/2010/main" val="27962713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EFF0A-5E17-3374-30EA-3AA5235E5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84576-D5DB-B968-0194-426AFA6E1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 offset (</a:t>
            </a:r>
            <a:r>
              <a:rPr lang="en-US" dirty="0" err="1"/>
              <a:t>romb</a:t>
            </a:r>
            <a:r>
              <a:rPr lang="en-US" dirty="0"/>
              <a:t>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744942-C1CB-0A2A-20D3-272959F4A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E=-0.4 eV, eta=10</a:t>
            </a:r>
            <a:r>
              <a:rPr lang="en-US" baseline="30000" dirty="0"/>
              <a:t>-5</a:t>
            </a:r>
            <a:r>
              <a:rPr lang="en-US" dirty="0"/>
              <a:t>, NN=4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7C34F27-0254-9AD6-4283-9FEC47F3AA3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0" y="2306166"/>
            <a:ext cx="9146530" cy="3896671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52EEBF9-616B-CC79-7B10-F8EFFE3EEA26}"/>
              </a:ext>
            </a:extLst>
          </p:cNvPr>
          <p:cNvSpPr txBox="1">
            <a:spLocks/>
          </p:cNvSpPr>
          <p:nvPr/>
        </p:nvSpPr>
        <p:spPr>
          <a:xfrm>
            <a:off x="4497388" y="1535113"/>
            <a:ext cx="4040188" cy="639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N=21</a:t>
            </a:r>
          </a:p>
        </p:txBody>
      </p:sp>
    </p:spTree>
    <p:extLst>
      <p:ext uri="{BB962C8B-B14F-4D97-AF65-F5344CB8AC3E}">
        <p14:creationId xmlns:p14="http://schemas.microsoft.com/office/powerpoint/2010/main" val="35985570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1A86F-8E71-9794-047C-7B2847B41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CC085-69E8-4CC1-4BC7-D1FCD207C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Energy offset (</a:t>
            </a:r>
            <a:r>
              <a:rPr lang="en-US" dirty="0" err="1"/>
              <a:t>romb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Using higher eta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DA5CD0-5F99-1BFF-4643-A7CCA6728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E=-0.4 eV, eta=10</a:t>
            </a:r>
            <a:r>
              <a:rPr lang="en-US" baseline="30000" dirty="0"/>
              <a:t>-1</a:t>
            </a:r>
            <a:r>
              <a:rPr lang="en-US" dirty="0"/>
              <a:t>, NN=4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241CEF6-3CB0-DDE2-C03B-DE69C77CCC6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0" y="2306166"/>
            <a:ext cx="9146530" cy="3896671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6660491-38DC-1618-051D-854D6AD3A3C6}"/>
              </a:ext>
            </a:extLst>
          </p:cNvPr>
          <p:cNvSpPr txBox="1">
            <a:spLocks/>
          </p:cNvSpPr>
          <p:nvPr/>
        </p:nvSpPr>
        <p:spPr>
          <a:xfrm>
            <a:off x="4497388" y="1535113"/>
            <a:ext cx="4040188" cy="639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N=21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FDD119-9B9F-3D46-0940-014B3E276621}"/>
              </a:ext>
            </a:extLst>
          </p:cNvPr>
          <p:cNvSpPr txBox="1"/>
          <p:nvPr/>
        </p:nvSpPr>
        <p:spPr>
          <a:xfrm>
            <a:off x="4930219" y="6033155"/>
            <a:ext cx="3935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Little to no difference between energies</a:t>
            </a:r>
          </a:p>
        </p:txBody>
      </p:sp>
    </p:spTree>
    <p:extLst>
      <p:ext uri="{BB962C8B-B14F-4D97-AF65-F5344CB8AC3E}">
        <p14:creationId xmlns:p14="http://schemas.microsoft.com/office/powerpoint/2010/main" val="35305478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AC3D201-B5FA-60C8-E5E6-2A323F7EDB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Armchair vs zig-zag (N=12)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32303070-4748-BAA5-03C1-F155A420A8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349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A7DCA-4F07-7ECD-F109-EC39A8590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5C681-4249-E5C9-281B-7AC6663A4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Armchair vs zigzag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A062D-3B13-DFE4-0068-81ED0DE2C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E=0 eV, N=12, eta=10</a:t>
            </a:r>
            <a:r>
              <a:rPr lang="en-US" baseline="30000" dirty="0"/>
              <a:t>-1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8819D05-C7A1-52E8-0003-FB1AAA9574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500423" y="2283283"/>
            <a:ext cx="7993930" cy="457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2722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969C1-2B0A-6B69-5D60-60B15FC32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8CF1C-C7D2-0D18-A5EF-4AE6B6D9B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Armchair vs zigzag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F7AEB-0B72-1E29-C7AE-7BDDAC29E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E=0 eV, N=12, eta=10</a:t>
            </a:r>
            <a:r>
              <a:rPr lang="en-US" baseline="30000" dirty="0"/>
              <a:t>-3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53B756B-FB12-F779-74F7-D0E4239DDA6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500423" y="2283283"/>
            <a:ext cx="7993930" cy="457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2553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CABF4-AF11-BC62-10F9-ED5DCDAFF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4DE44-5411-9A84-7392-3CBA35259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Armchair vs zigzag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B1CF9-AAD4-54E2-346C-F1664288A2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E=0 eV, N=12, eta=10</a:t>
            </a:r>
            <a:r>
              <a:rPr lang="en-US" baseline="30000" dirty="0"/>
              <a:t>-5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D4D30D6-EBED-C04D-CB28-FA8982927DE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500423" y="2283283"/>
            <a:ext cx="7993930" cy="457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7277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A9E54-8B12-CF4B-1059-F4B325B41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248E9-4EFC-518B-02EB-6C2E85CA7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Armchair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1883E2-0090-80F2-76D0-F7E43795DA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N=12, eta=10</a:t>
            </a:r>
            <a:r>
              <a:rPr lang="en-US" baseline="30000" dirty="0"/>
              <a:t>-5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8DADCF8-764B-ECD6-A7CC-746CA976B1E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0" y="2902852"/>
            <a:ext cx="9103005" cy="324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8730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31D98-818D-0F2A-91E2-709DF7007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14861-B230-8C3C-F921-D50938CA8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Armchair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515C5-6CD4-1309-D11A-747D3DC535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N=12, eta=10</a:t>
            </a:r>
            <a:r>
              <a:rPr lang="en-US" baseline="30000" dirty="0"/>
              <a:t>-5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196FC5F-E311-E238-53F5-C2DE23F53AD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0" y="2902852"/>
            <a:ext cx="9103005" cy="324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3176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5FED2-13F2-3BA1-4096-41235377D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44D43-EE3A-9D6A-60F0-CF6715932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Armchair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178A1-638D-8A5A-C1EF-4FF81C375D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N=12, eta=10</a:t>
            </a:r>
            <a:r>
              <a:rPr lang="en-US" baseline="30000" dirty="0"/>
              <a:t>-5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B85919D-76F9-A3CF-F8B4-590487B9367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0" y="2902852"/>
            <a:ext cx="9103005" cy="324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6128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AFDE8-0FE5-4F62-AE0E-E06AA5CFF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FDBA9-ECAF-3470-299F-BD2D1A1FD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Armchair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27ABC-7A92-947C-7E6F-4DD2048B32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N=12, eta=10</a:t>
            </a:r>
            <a:r>
              <a:rPr lang="en-US" baseline="30000" dirty="0"/>
              <a:t>-3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804B40F-DBAB-79E7-1922-8EE3E6BAAEA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0" y="2902852"/>
            <a:ext cx="9103005" cy="324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5334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13674-B985-F4DC-D9A8-2A90425D6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3770A-EA76-798C-492E-5DFE4B8CF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Armchair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D4E7A-913D-4B78-E0EE-4D7EB20CF6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N=12, eta=10</a:t>
            </a:r>
            <a:r>
              <a:rPr lang="en-US" baseline="30000" dirty="0"/>
              <a:t>-1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453E816-378A-EEB9-2EA2-92E8B3FEC37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0" y="2902852"/>
            <a:ext cx="9103005" cy="324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3029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EB0AB-1723-75F9-43CE-D3DED6A99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Now </a:t>
            </a:r>
            <a:r>
              <a:rPr lang="da-DK" dirty="0" err="1"/>
              <a:t>deleted</a:t>
            </a:r>
            <a:r>
              <a:rPr lang="da-DK" dirty="0"/>
              <a:t>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32478-5AB2-1527-82F6-7F5DA087C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da-DK" dirty="0"/>
              <a:t>NC=1 angle=0 </a:t>
            </a:r>
            <a:r>
              <a:rPr lang="da-DK" dirty="0" err="1"/>
              <a:t>deg</a:t>
            </a:r>
            <a:r>
              <a:rPr lang="da-DK" dirty="0"/>
              <a:t>. R/2 -&gt; R </a:t>
            </a:r>
            <a:r>
              <a:rPr lang="da-DK" dirty="0" err="1"/>
              <a:t>layer</a:t>
            </a:r>
            <a:endParaRPr lang="da-D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BABB826-DD3A-9E30-7E31-58FD8DFB6CE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57200" y="2452366"/>
            <a:ext cx="4040188" cy="3396305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4D8A1-83D6-349B-3025-49C806E420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/>
          </a:bodyPr>
          <a:lstStyle/>
          <a:p>
            <a:endParaRPr lang="da-DK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FC30D8-2D87-A04E-DB63-F47BF4BF46C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346614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42990F7-FDA5-0C94-A608-69F719BA7A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RSE for armchair + zigzag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591C8F23-4878-D975-ED4B-AB5584C19A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4062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AA4AE-D5D2-73BB-94BE-F42EC6BAC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Armchair vs zigzag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89308-F388-0EBE-CDB5-936864ED8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E=0 eV, N=8, eta=10</a:t>
            </a:r>
            <a:r>
              <a:rPr lang="en-US" baseline="30000" dirty="0"/>
              <a:t>-1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1DD8F18-A375-58BE-BB15-BEC4F029EBC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500423" y="2283283"/>
            <a:ext cx="7993930" cy="4570249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1829709-132E-789C-A55C-1C7C8D149A8F}"/>
              </a:ext>
            </a:extLst>
          </p:cNvPr>
          <p:cNvCxnSpPr>
            <a:cxnSpLocks/>
          </p:cNvCxnSpPr>
          <p:nvPr/>
        </p:nvCxnSpPr>
        <p:spPr>
          <a:xfrm flipH="1">
            <a:off x="3487918" y="3429000"/>
            <a:ext cx="1009470" cy="32286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E26CE67-F6E8-D56C-23B7-0D8CFCF849C6}"/>
              </a:ext>
            </a:extLst>
          </p:cNvPr>
          <p:cNvCxnSpPr>
            <a:cxnSpLocks/>
          </p:cNvCxnSpPr>
          <p:nvPr/>
        </p:nvCxnSpPr>
        <p:spPr>
          <a:xfrm>
            <a:off x="4920792" y="3429000"/>
            <a:ext cx="1443872" cy="46348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2A08D2F-F017-8997-3124-D4D9A602A945}"/>
              </a:ext>
            </a:extLst>
          </p:cNvPr>
          <p:cNvSpPr txBox="1"/>
          <p:nvPr/>
        </p:nvSpPr>
        <p:spPr>
          <a:xfrm>
            <a:off x="3973800" y="2951260"/>
            <a:ext cx="153145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Armchair side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804C835-BA0D-2C71-E804-1BAF98ACBCC8}"/>
              </a:ext>
            </a:extLst>
          </p:cNvPr>
          <p:cNvCxnSpPr>
            <a:cxnSpLocks/>
          </p:cNvCxnSpPr>
          <p:nvPr/>
        </p:nvCxnSpPr>
        <p:spPr>
          <a:xfrm>
            <a:off x="2851608" y="4666266"/>
            <a:ext cx="3440784" cy="0"/>
          </a:xfrm>
          <a:prstGeom prst="straightConnector1">
            <a:avLst/>
          </a:prstGeom>
          <a:ln w="762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D01597F-1918-F15A-BC4C-27C14EC6F7FF}"/>
              </a:ext>
            </a:extLst>
          </p:cNvPr>
          <p:cNvSpPr txBox="1"/>
          <p:nvPr/>
        </p:nvSpPr>
        <p:spPr>
          <a:xfrm>
            <a:off x="3731661" y="4771484"/>
            <a:ext cx="1531454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Transport direction</a:t>
            </a:r>
          </a:p>
        </p:txBody>
      </p:sp>
    </p:spTree>
    <p:extLst>
      <p:ext uri="{BB962C8B-B14F-4D97-AF65-F5344CB8AC3E}">
        <p14:creationId xmlns:p14="http://schemas.microsoft.com/office/powerpoint/2010/main" val="16492646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4A2453D-AD00-59CD-AEA3-B016893D6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89EC4-A883-F31F-13B4-761F8EF03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Armchair vs zigzag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DBB14-CEEB-572E-F017-C93FAA06B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E=0 eV, N=8, eta=10</a:t>
            </a:r>
            <a:r>
              <a:rPr lang="en-US" baseline="30000" dirty="0"/>
              <a:t>-1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118FCE5-CCE0-1F0B-11E4-83B24D82855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500423" y="2283283"/>
            <a:ext cx="7993930" cy="457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7184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6A7D3CE-881B-BD7C-6424-14C927D3A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2CFB5-63A8-CBEC-12CE-7E8368F07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Armchair vs zigzag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22D6D-F3F3-EB1F-5759-E96370905F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E=0 eV, N=8, eta=10</a:t>
            </a:r>
            <a:r>
              <a:rPr lang="en-US" baseline="30000" dirty="0"/>
              <a:t>-2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D3CD148-971B-0058-3FED-042AEA328B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500423" y="2283283"/>
            <a:ext cx="7993930" cy="457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8426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AE7FA2B-24A3-B4FB-34FD-D34A0C7B2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9D57-2195-79D8-D724-FDB5DAA41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Armchair vs zigzag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15AAA-E66F-B00D-42ED-50F52A5DC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E=0 eV, N=8, eta=10</a:t>
            </a:r>
            <a:r>
              <a:rPr lang="en-US" baseline="30000" dirty="0"/>
              <a:t>-3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2618EEA-1A1E-E16F-18A0-045C6227181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500423" y="2283283"/>
            <a:ext cx="7993930" cy="457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2989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4C7A3BF-FCAA-CB37-B20A-FD917387F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3B13A-4E89-97FE-3A85-094CAFA3E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Armchair vs zigzag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C2EB7-2DA2-204E-34ED-1920D01674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E=0 eV, N=8, eta=10</a:t>
            </a:r>
            <a:r>
              <a:rPr lang="en-US" baseline="30000" dirty="0"/>
              <a:t>-4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67D5A69-E5A7-1E96-79B4-23F9FA41C82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500423" y="2283283"/>
            <a:ext cx="7993930" cy="457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0827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F34A2BA-46DF-C60E-0A56-6675EA93E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92C2F-D1CB-4640-9737-82870B6FC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Armchair vs zigzag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04260A-DB7E-C9FB-3CD6-0FE5E8329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E=0 eV, N=8, eta=10</a:t>
            </a:r>
            <a:r>
              <a:rPr lang="en-US" baseline="30000" dirty="0"/>
              <a:t>-5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FBD9C6A-27E5-A9F5-59BF-0F94AC01861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0423" y="2283283"/>
            <a:ext cx="7993930" cy="457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416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</TotalTime>
  <Words>553</Words>
  <Application>Microsoft Office PowerPoint</Application>
  <PresentationFormat>On-screen Show (4:3)</PresentationFormat>
  <Paragraphs>85</Paragraphs>
  <Slides>36</Slides>
  <Notes>0</Notes>
  <HiddenSlides>7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Cambria Math</vt:lpstr>
      <vt:lpstr>Office Theme</vt:lpstr>
      <vt:lpstr>Results for RSE</vt:lpstr>
      <vt:lpstr>Primitive unitcell tiling</vt:lpstr>
      <vt:lpstr>Performance</vt:lpstr>
      <vt:lpstr>Default (romb), Increasing eta</vt:lpstr>
      <vt:lpstr>Default (romb), Increasing eta</vt:lpstr>
      <vt:lpstr>Default (romb), Increasing eta</vt:lpstr>
      <vt:lpstr>Default (romb), Increasing eta</vt:lpstr>
      <vt:lpstr>Larger structure and constant η=10^(-5)</vt:lpstr>
      <vt:lpstr>Default (romb), Increasing N</vt:lpstr>
      <vt:lpstr>Default (romb), Increasing N</vt:lpstr>
      <vt:lpstr>Default (romb), Increasing N</vt:lpstr>
      <vt:lpstr>Default (romb), Increasing N</vt:lpstr>
      <vt:lpstr>Energy offset η=10^(-5),N=21</vt:lpstr>
      <vt:lpstr>Energy offset (romb)</vt:lpstr>
      <vt:lpstr>Energy offset (romb)</vt:lpstr>
      <vt:lpstr>Energy offset (romb)</vt:lpstr>
      <vt:lpstr>Energy offset (romb)</vt:lpstr>
      <vt:lpstr>Energy offset (romb)</vt:lpstr>
      <vt:lpstr>Energy offset (romb) Using higher eta</vt:lpstr>
      <vt:lpstr>Armchair vs zig-zag (N=12)</vt:lpstr>
      <vt:lpstr>Armchair vs zigzag</vt:lpstr>
      <vt:lpstr>Armchair vs zigzag</vt:lpstr>
      <vt:lpstr>Armchair vs zigzag</vt:lpstr>
      <vt:lpstr>All Armchair</vt:lpstr>
      <vt:lpstr>All Armchair</vt:lpstr>
      <vt:lpstr>All Armchair</vt:lpstr>
      <vt:lpstr>All Armchair</vt:lpstr>
      <vt:lpstr>All Armchair</vt:lpstr>
      <vt:lpstr>Now deleted data</vt:lpstr>
      <vt:lpstr>RSE for armchair + zigzag</vt:lpstr>
      <vt:lpstr>Armchair vs zigzag</vt:lpstr>
      <vt:lpstr>Armchair vs zigzag</vt:lpstr>
      <vt:lpstr>Armchair vs zigzag</vt:lpstr>
      <vt:lpstr>Armchair vs zigzag</vt:lpstr>
      <vt:lpstr>Armchair vs zigzag</vt:lpstr>
      <vt:lpstr>Armchair vs zigzag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Results for RSE</dc:title>
  <dc:creator>Bastian</dc:creator>
  <cp:keywords/>
  <cp:lastModifiedBy>Bastian Valhøj Kristensen</cp:lastModifiedBy>
  <cp:revision>12</cp:revision>
  <dcterms:created xsi:type="dcterms:W3CDTF">2026-03-08T15:20:22Z</dcterms:created>
  <dcterms:modified xsi:type="dcterms:W3CDTF">2026-06-13T22:05:04Z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March 9., 2026</vt:lpwstr>
  </property>
</Properties>
</file>